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/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612648" y="502920"/>
            <a:ext cx="3474720" cy="34747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1A56DB"/>
                </a:solidFill>
              </a:defRPr>
            </a:pPr>
            <a:r>
              <a:t>SMART INDIA HACKATHON 2026 | SOFTWARE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960120"/>
            <a:ext cx="5852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DepositFlow</a:t>
            </a:r>
          </a:p>
          <a:p>
            <a:pPr>
              <a:defRPr sz="1500" b="1">
                <a:solidFill>
                  <a:srgbClr val="1A56DB"/>
                </a:solidFill>
              </a:defRPr>
            </a:pPr>
            <a:r>
              <a:t>Unified Security Deposit &amp; FDR Lifecycle Portal for AICTE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2648" y="2377440"/>
            <a:ext cx="548640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Aft>
                <a:spcPts val="800"/>
              </a:spcAft>
              <a:defRPr sz="1050" b="1">
                <a:solidFill>
                  <a:srgbClr val="64748B"/>
                </a:solidFill>
              </a:defRPr>
            </a:pPr>
            <a:r>
              <a:t>OFFICIAL PROBLEM SPECIFICATION</a:t>
            </a:r>
          </a:p>
          <a:p>
            <a:pPr>
              <a:spcAft>
                <a:spcPts val="400"/>
              </a:spcAft>
              <a:defRPr sz="1100" b="1">
                <a:solidFill>
                  <a:srgbClr val="64748B"/>
                </a:solidFill>
              </a:defRPr>
            </a:pPr>
            <a:r>
              <a:t>Problem Statement ID: </a:t>
            </a:r>
            <a:r>
              <a:rPr b="1">
                <a:solidFill>
                  <a:srgbClr val="0F172A"/>
                </a:solidFill>
              </a:rPr>
              <a:t>26265</a:t>
            </a:r>
          </a:p>
          <a:p>
            <a:pPr>
              <a:spcAft>
                <a:spcPts val="400"/>
              </a:spcAft>
              <a:defRPr sz="1100" b="1">
                <a:solidFill>
                  <a:srgbClr val="64748B"/>
                </a:solidFill>
              </a:defRPr>
            </a:pPr>
            <a:r>
              <a:t>Problem Statement Title: </a:t>
            </a:r>
            <a:r>
              <a:rPr b="1">
                <a:solidFill>
                  <a:srgbClr val="0F172A"/>
                </a:solidFill>
              </a:rPr>
              <a:t>Streamline of security deposit / FDR portal</a:t>
            </a:r>
          </a:p>
          <a:p>
            <a:pPr>
              <a:spcAft>
                <a:spcPts val="400"/>
              </a:spcAft>
              <a:defRPr sz="1100" b="1">
                <a:solidFill>
                  <a:srgbClr val="64748B"/>
                </a:solidFill>
              </a:defRPr>
            </a:pPr>
            <a:r>
              <a:t>Ministry / Organization: </a:t>
            </a:r>
            <a:r>
              <a:rPr b="1">
                <a:solidFill>
                  <a:srgbClr val="0F172A"/>
                </a:solidFill>
              </a:rPr>
              <a:t>AICTE, Ministry of Education, Govt. of India</a:t>
            </a:r>
          </a:p>
          <a:p>
            <a:pPr>
              <a:spcAft>
                <a:spcPts val="400"/>
              </a:spcAft>
              <a:defRPr sz="1100" b="1">
                <a:solidFill>
                  <a:srgbClr val="64748B"/>
                </a:solidFill>
              </a:defRPr>
            </a:pPr>
            <a:r>
              <a:t>Bureau / Department: </a:t>
            </a:r>
            <a:r>
              <a:rPr b="1">
                <a:solidFill>
                  <a:srgbClr val="0F172A"/>
                </a:solidFill>
              </a:rPr>
              <a:t>Regulation Bureau (Approval &amp; Compliance)</a:t>
            </a:r>
          </a:p>
          <a:p>
            <a:pPr>
              <a:spcAft>
                <a:spcPts val="400"/>
              </a:spcAft>
              <a:defRPr sz="1100" b="1">
                <a:solidFill>
                  <a:srgbClr val="64748B"/>
                </a:solidFill>
              </a:defRPr>
            </a:pPr>
            <a:r>
              <a:t>Theme &amp; Category: </a:t>
            </a:r>
            <a:r>
              <a:rPr b="1">
                <a:solidFill>
                  <a:srgbClr val="0F172A"/>
                </a:solidFill>
              </a:rPr>
              <a:t>Smart Automation | Software Edition</a:t>
            </a:r>
          </a:p>
          <a:p>
            <a:pPr>
              <a:spcAft>
                <a:spcPts val="400"/>
              </a:spcAft>
              <a:defRPr sz="1100" b="1">
                <a:solidFill>
                  <a:srgbClr val="64748B"/>
                </a:solidFill>
              </a:defRPr>
            </a:pPr>
            <a:r>
              <a:t>Team ID &amp; Name: </a:t>
            </a:r>
            <a:r>
              <a:rPr b="1">
                <a:solidFill>
                  <a:srgbClr val="1A56DB"/>
                </a:solidFill>
              </a:rPr>
              <a:t>Team ID: 155882  •  Team SPADES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2648" y="5806440"/>
            <a:ext cx="16916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l">
              <a:defRPr sz="1600" b="1">
                <a:solidFill>
                  <a:srgbClr val="1A56DB"/>
                </a:solidFill>
              </a:defRPr>
            </a:pPr>
            <a:r>
              <a:t>₹12.18 Cr</a:t>
            </a:r>
          </a:p>
          <a:p>
            <a:pPr algn="l">
              <a:defRPr sz="950" b="1">
                <a:solidFill>
                  <a:srgbClr val="64748B"/>
                </a:solidFill>
              </a:defRPr>
            </a:pPr>
            <a:r>
              <a:t>Verified Seed Portfolio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423160" y="5806440"/>
            <a:ext cx="16916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53 / 53</a:t>
            </a:r>
          </a:p>
          <a:p>
            <a:pPr algn="l">
              <a:defRPr sz="950" b="1">
                <a:solidFill>
                  <a:srgbClr val="64748B"/>
                </a:solidFill>
              </a:defRPr>
            </a:pPr>
            <a:r>
              <a:t>Automated Tests Pass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33672" y="5806440"/>
            <a:ext cx="1865376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l">
              <a:defRPr sz="1600" b="1">
                <a:solidFill>
                  <a:srgbClr val="0F172A"/>
                </a:solidFill>
              </a:defRPr>
            </a:pPr>
            <a:r>
              <a:t>Zero Cloud</a:t>
            </a:r>
          </a:p>
          <a:p>
            <a:pPr algn="l">
              <a:defRPr sz="950" b="1">
                <a:solidFill>
                  <a:srgbClr val="64748B"/>
                </a:solidFill>
              </a:defRPr>
            </a:pPr>
            <a:r>
              <a:t>WASM PGlite Engine</a:t>
            </a:r>
          </a:p>
        </p:txBody>
      </p:sp>
      <p:pic>
        <p:nvPicPr>
          <p:cNvPr id="44" name="Picture 43" descr="01-landing-he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371600"/>
            <a:ext cx="5394960" cy="475488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309360" y="617220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64748B"/>
                </a:solidFill>
              </a:defRPr>
            </a:pPr>
            <a:r>
              <a:t>DepositFlow Live Production Prototype: Purpose-built for AICTE Regulation Bureau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/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SPADES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Rounded Rectangle 15362"/>
          <p:cNvSpPr/>
          <p:nvPr/>
        </p:nvSpPr>
        <p:spPr>
          <a:xfrm>
            <a:off x="612648" y="256032"/>
            <a:ext cx="292608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defRPr sz="950" b="1">
                <a:solidFill>
                  <a:srgbClr val="1A56DB"/>
                </a:solidFill>
              </a:defRPr>
            </a:pPr>
            <a:r>
              <a:t>AICTE REGULATION BUREAU | PROBLEM CONTEXT &amp; PROPOSED SOLUTION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594360" y="62179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The Regulatory Reality vs The DepositFlow Architecture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594360" y="1115568"/>
            <a:ext cx="10789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Transforming fragmented, spreadsheet-driven compliance into a unified, tamper-proof institutional ledger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612648" y="1554480"/>
            <a:ext cx="3657600" cy="489204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THE STATUS QUO (PAIN POINTS)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Why AICTE Regulation Bureau faces critical operational risks today:</a:t>
            </a:r>
          </a:p>
          <a:p>
            <a:pPr>
              <a:spcAft>
                <a:spcPts val="200"/>
              </a:spcAft>
              <a:defRPr sz="1000" b="1">
                <a:solidFill>
                  <a:srgbClr val="E11D48"/>
                </a:solidFill>
              </a:defRPr>
            </a:pPr>
            <a:r>
              <a:t>✕ Spreadsheet &amp; Email Silos: </a:t>
            </a:r>
            <a:r>
              <a:rPr b="0">
                <a:solidFill>
                  <a:srgbClr val="1E293B"/>
                </a:solidFill>
              </a:rPr>
              <a:t>Records scattered across regional offices; no real-time national register of institutional solvency.</a:t>
            </a:r>
          </a:p>
          <a:p>
            <a:pPr>
              <a:spcAft>
                <a:spcPts val="200"/>
              </a:spcAft>
              <a:defRPr sz="1000" b="1">
                <a:solidFill>
                  <a:srgbClr val="E11D48"/>
                </a:solidFill>
              </a:defRPr>
            </a:pPr>
            <a:r>
              <a:t>✕ Lapsed FDR Renewals: </a:t>
            </a:r>
            <a:r>
              <a:rPr b="0">
                <a:solidFill>
                  <a:srgbClr val="1E293B"/>
                </a:solidFill>
              </a:rPr>
              <a:t>Maturity dates missed without warning, risking loss of statutory security or forfeiture of interest yield.</a:t>
            </a:r>
          </a:p>
          <a:p>
            <a:pPr>
              <a:spcAft>
                <a:spcPts val="200"/>
              </a:spcAft>
              <a:defRPr sz="1000" b="1">
                <a:solidFill>
                  <a:srgbClr val="E11D48"/>
                </a:solidFill>
              </a:defRPr>
            </a:pPr>
            <a:r>
              <a:t>✕ Unchecked Receipt Forgery: </a:t>
            </a:r>
            <a:r>
              <a:rPr b="0">
                <a:solidFill>
                  <a:srgbClr val="1E293B"/>
                </a:solidFill>
              </a:rPr>
              <a:t>Uploaded paper receipts scrutinized manually with zero programmatic discrepancy detection against register data.</a:t>
            </a:r>
          </a:p>
          <a:p>
            <a:pPr>
              <a:spcAft>
                <a:spcPts val="200"/>
              </a:spcAft>
              <a:defRPr sz="1000" b="1">
                <a:solidFill>
                  <a:srgbClr val="E11D48"/>
                </a:solidFill>
              </a:defRPr>
            </a:pPr>
            <a:r>
              <a:t>✕ Unsegregated Release Risk: </a:t>
            </a:r>
            <a:r>
              <a:rPr b="0">
                <a:solidFill>
                  <a:srgbClr val="1E293B"/>
                </a:solidFill>
              </a:rPr>
              <a:t>Lacks Maker-Checker controls; no cryptographic barrier preventing self-authorization of refund requests.</a:t>
            </a:r>
          </a:p>
          <a:p>
            <a:pPr>
              <a:spcAft>
                <a:spcPts val="200"/>
              </a:spcAft>
              <a:defRPr sz="1000" b="1">
                <a:solidFill>
                  <a:srgbClr val="E11D48"/>
                </a:solidFill>
              </a:defRPr>
            </a:pPr>
            <a:r>
              <a:t>✕ Vulnerable Audit Trails: </a:t>
            </a:r>
            <a:r>
              <a:rPr b="0">
                <a:solidFill>
                  <a:srgbClr val="1E293B"/>
                </a:solidFill>
              </a:rPr>
              <a:t>Modifications in spreadsheets leave no immutable forensic evidence of who altered what deposit.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4434840" y="1554480"/>
            <a:ext cx="3749039" cy="48920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DEPOSITFLOW SOLUTION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Systematic digital lifecycle conforming to AICTE Approval Process Handbook:</a:t>
            </a:r>
          </a:p>
          <a:p>
            <a:pPr>
              <a:spcAft>
                <a:spcPts val="200"/>
              </a:spcAft>
              <a:defRPr sz="1000" b="1">
                <a:solidFill>
                  <a:srgbClr val="10B981"/>
                </a:solidFill>
              </a:defRPr>
            </a:pPr>
            <a:r>
              <a:t>✓ Single Source of Truth: </a:t>
            </a:r>
            <a:r>
              <a:rPr b="0">
                <a:solidFill>
                  <a:srgbClr val="1E293B"/>
                </a:solidFill>
              </a:rPr>
              <a:t>Centralized repository tracking both institution-wise and instrument-wise security deposits &amp; FDRs.</a:t>
            </a:r>
          </a:p>
          <a:p>
            <a:pPr>
              <a:spcAft>
                <a:spcPts val="200"/>
              </a:spcAft>
              <a:defRPr sz="1000" b="1">
                <a:solidFill>
                  <a:srgbClr val="10B981"/>
                </a:solidFill>
              </a:defRPr>
            </a:pPr>
            <a:r>
              <a:t>✓ Dual-Pane Scrutiny: </a:t>
            </a:r>
            <a:r>
              <a:rPr b="0">
                <a:solidFill>
                  <a:srgbClr val="1E293B"/>
                </a:solidFill>
              </a:rPr>
              <a:t>Side-by-side verification: document preview alongside register values with automatic discrepancy flags.</a:t>
            </a:r>
          </a:p>
          <a:p>
            <a:pPr>
              <a:spcAft>
                <a:spcPts val="200"/>
              </a:spcAft>
              <a:defRPr sz="1000" b="1">
                <a:solidFill>
                  <a:srgbClr val="10B981"/>
                </a:solidFill>
              </a:defRPr>
            </a:pPr>
            <a:r>
              <a:t>✓ Automated Maturity Watchdog: </a:t>
            </a:r>
            <a:r>
              <a:rPr b="0">
                <a:solidFill>
                  <a:srgbClr val="1E293B"/>
                </a:solidFill>
              </a:rPr>
              <a:t>Proactive alerts at 30, 15, 7, and 0 days prior to maturity, plus immediate overdue tracking.</a:t>
            </a:r>
          </a:p>
          <a:p>
            <a:pPr>
              <a:spcAft>
                <a:spcPts val="200"/>
              </a:spcAft>
              <a:defRPr sz="1000" b="1">
                <a:solidFill>
                  <a:srgbClr val="10B981"/>
                </a:solidFill>
              </a:defRPr>
            </a:pPr>
            <a:r>
              <a:t>✓ Maker-Checker Segregation: </a:t>
            </a:r>
            <a:r>
              <a:rPr b="0">
                <a:solidFill>
                  <a:srgbClr val="1E293B"/>
                </a:solidFill>
              </a:rPr>
              <a:t>Strict 4-eye release governance: requester cannot approve; dual verification before fund release.</a:t>
            </a:r>
          </a:p>
          <a:p>
            <a:pPr>
              <a:spcAft>
                <a:spcPts val="200"/>
              </a:spcAft>
              <a:defRPr sz="1000" b="1">
                <a:solidFill>
                  <a:srgbClr val="10B981"/>
                </a:solidFill>
              </a:defRPr>
            </a:pPr>
            <a:r>
              <a:t>✓ Append-Only Forensic Ledger: </a:t>
            </a:r>
            <a:r>
              <a:rPr b="0">
                <a:solidFill>
                  <a:srgbClr val="1E293B"/>
                </a:solidFill>
              </a:rPr>
              <a:t>Database-level triggers reject UPDATE and DELETE, guaranteeing legal immutability for audits.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8321040" y="1554480"/>
            <a:ext cx="329184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10 SIH REQUIREMENTS MET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Direct coverage of the AICTE PS26265 requirements specification:</a:t>
            </a:r>
          </a:p>
          <a:p>
            <a:pPr>
              <a:spcAft>
                <a:spcPts val="400"/>
              </a:spcAft>
              <a:defRPr sz="980" b="1">
                <a:solidFill>
                  <a:srgbClr val="1A56DB"/>
                </a:solidFill>
              </a:defRPr>
            </a:pPr>
            <a:r>
              <a:t>● 1. Centralized FDR Repository</a:t>
            </a:r>
          </a:p>
          <a:p>
            <a:pPr>
              <a:spcAft>
                <a:spcPts val="400"/>
              </a:spcAft>
              <a:defRPr sz="980" b="1">
                <a:solidFill>
                  <a:srgbClr val="1A56DB"/>
                </a:solidFill>
              </a:defRPr>
            </a:pPr>
            <a:r>
              <a:t>● 2. Digital Document Management</a:t>
            </a:r>
          </a:p>
          <a:p>
            <a:pPr>
              <a:spcAft>
                <a:spcPts val="400"/>
              </a:spcAft>
              <a:defRPr sz="980" b="1">
                <a:solidFill>
                  <a:srgbClr val="1A56DB"/>
                </a:solidFill>
              </a:defRPr>
            </a:pPr>
            <a:r>
              <a:t>● 3. Verification &amp; Discrepancy Checks</a:t>
            </a:r>
          </a:p>
          <a:p>
            <a:pPr>
              <a:spcAft>
                <a:spcPts val="400"/>
              </a:spcAft>
              <a:defRPr sz="980" b="1">
                <a:solidFill>
                  <a:srgbClr val="1A56DB"/>
                </a:solidFill>
              </a:defRPr>
            </a:pPr>
            <a:r>
              <a:t>● 4. Automated Validity &amp; Maturity Alert</a:t>
            </a:r>
          </a:p>
          <a:p>
            <a:pPr>
              <a:spcAft>
                <a:spcPts val="400"/>
              </a:spcAft>
              <a:defRPr sz="980" b="1">
                <a:solidFill>
                  <a:srgbClr val="1A56DB"/>
                </a:solidFill>
              </a:defRPr>
            </a:pPr>
            <a:r>
              <a:t>● 5. Renewal &amp; Replacement Lineage</a:t>
            </a:r>
          </a:p>
          <a:p>
            <a:pPr>
              <a:spcAft>
                <a:spcPts val="400"/>
              </a:spcAft>
              <a:defRPr sz="980" b="1">
                <a:solidFill>
                  <a:srgbClr val="1A56DB"/>
                </a:solidFill>
              </a:defRPr>
            </a:pPr>
            <a:r>
              <a:t>● 6. Release &amp; Refund Governance</a:t>
            </a:r>
          </a:p>
          <a:p>
            <a:pPr>
              <a:spcAft>
                <a:spcPts val="400"/>
              </a:spcAft>
              <a:defRPr sz="980" b="1">
                <a:solidFill>
                  <a:srgbClr val="1A56DB"/>
                </a:solidFill>
              </a:defRPr>
            </a:pPr>
            <a:r>
              <a:t>● 7. Escalation &amp; Stakeholder Alerts</a:t>
            </a:r>
          </a:p>
          <a:p>
            <a:pPr>
              <a:spcAft>
                <a:spcPts val="400"/>
              </a:spcAft>
              <a:defRPr sz="980" b="1">
                <a:solidFill>
                  <a:srgbClr val="1A56DB"/>
                </a:solidFill>
              </a:defRPr>
            </a:pPr>
            <a:r>
              <a:t>● 8. Executive Dashboard &amp; CSV Reports</a:t>
            </a:r>
          </a:p>
          <a:p>
            <a:pPr>
              <a:spcAft>
                <a:spcPts val="400"/>
              </a:spcAft>
              <a:defRPr sz="980" b="1">
                <a:solidFill>
                  <a:srgbClr val="1A56DB"/>
                </a:solidFill>
              </a:defRPr>
            </a:pPr>
            <a:r>
              <a:t>● 9. Immutable Audit Trail &amp; RBAC</a:t>
            </a:r>
          </a:p>
          <a:p>
            <a:pPr>
              <a:spcAft>
                <a:spcPts val="400"/>
              </a:spcAft>
              <a:defRPr sz="980" b="1">
                <a:solidFill>
                  <a:srgbClr val="1A56DB"/>
                </a:solidFill>
              </a:defRPr>
            </a:pPr>
            <a:r>
              <a:t>● 10. System Integration &amp; Idempotency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SPADES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612648" y="256032"/>
            <a:ext cx="292608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defRPr sz="950" b="1">
                <a:solidFill>
                  <a:srgbClr val="1A56DB"/>
                </a:solidFill>
              </a:defRPr>
            </a:pPr>
            <a:r>
              <a:t>AICTE REGULATION BUREAU | TECHNICAL APPROACH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94360" y="62179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Technical Architecture &amp; The End-to-End Compliance Pipeline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94360" y="1115568"/>
            <a:ext cx="10789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Robust enterprise stack: React 19 / Next.js 16 + WebAssembly Postgres + Multi-tier security enforcement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12648" y="1554480"/>
            <a:ext cx="1097280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END-TO-END REGULATORY LIFECYCLE PIPELINE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Every FDR instrument progresses through strict verification gates from issuance to discharge: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777240" y="2148840"/>
            <a:ext cx="201168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50" b="1">
                <a:solidFill>
                  <a:srgbClr val="1A56DB"/>
                </a:solidFill>
              </a:defRPr>
            </a:pPr>
            <a:r>
              <a:t>01. INGESTION</a:t>
            </a:r>
          </a:p>
          <a:p>
            <a:pPr>
              <a:defRPr sz="750">
                <a:solidFill>
                  <a:srgbClr val="1E293B"/>
                </a:solidFill>
              </a:defRPr>
            </a:pPr>
            <a:r>
              <a:t>Institution creates deposit; Magic-byte sniffing validates authentic PDF binary.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2935224" y="2148840"/>
            <a:ext cx="201168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50" b="1">
                <a:solidFill>
                  <a:srgbClr val="D97706"/>
                </a:solidFill>
              </a:defRPr>
            </a:pPr>
            <a:r>
              <a:t>02. SCRUTINY</a:t>
            </a:r>
          </a:p>
          <a:p>
            <a:pPr>
              <a:defRPr sz="750">
                <a:solidFill>
                  <a:srgbClr val="1E293B"/>
                </a:solidFill>
              </a:defRPr>
            </a:pPr>
            <a:r>
              <a:t>Verification Officer inspects dual-pane diff; mismatches flagged in real-time.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5093207" y="2148840"/>
            <a:ext cx="201168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50" b="1">
                <a:solidFill>
                  <a:srgbClr val="1A56DB"/>
                </a:solidFill>
              </a:defRPr>
            </a:pPr>
            <a:r>
              <a:t>03. MONITORING</a:t>
            </a:r>
          </a:p>
          <a:p>
            <a:pPr>
              <a:defRPr sz="750">
                <a:solidFill>
                  <a:srgbClr val="1E293B"/>
                </a:solidFill>
              </a:defRPr>
            </a:pPr>
            <a:r>
              <a:t>Watchdog engine evaluates 7 statutory rules; fires idempotent 30/15/7/0D alerts.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7251192" y="2148840"/>
            <a:ext cx="201168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50" b="1">
                <a:solidFill>
                  <a:srgbClr val="E11D48"/>
                </a:solidFill>
              </a:defRPr>
            </a:pPr>
            <a:r>
              <a:t>04. 4-EYE RELEASE</a:t>
            </a:r>
          </a:p>
          <a:p>
            <a:pPr>
              <a:defRPr sz="750">
                <a:solidFill>
                  <a:srgbClr val="1E293B"/>
                </a:solidFill>
              </a:defRPr>
            </a:pPr>
            <a:r>
              <a:t>Maker-Checker clearance; requires competent authority review &amp; outcome recording.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9409176" y="2148840"/>
            <a:ext cx="201168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05. AUDIT LOG</a:t>
            </a:r>
          </a:p>
          <a:p>
            <a:pPr>
              <a:defRPr sz="750">
                <a:solidFill>
                  <a:srgbClr val="1E293B"/>
                </a:solidFill>
              </a:defRPr>
            </a:pPr>
            <a:r>
              <a:t>DB triggers write immutable change history; zero deletion allowed.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612648" y="3063240"/>
            <a:ext cx="5120640" cy="3383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ARCHITECTURAL HIGHLIGHTS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Engineered for high-security public governance: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</a:defRPr>
            </a:pPr>
            <a:r>
              <a:t>◆ WASM PGlite Engine: </a:t>
            </a:r>
            <a:r>
              <a:rPr b="0">
                <a:solidFill>
                  <a:srgbClr val="64748B"/>
                </a:solidFill>
              </a:rPr>
              <a:t>Embedded PostgreSQL compiled to WebAssembly; runs zero-cloud on disk with 100% Supabase cloud parity.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</a:defRPr>
            </a:pPr>
            <a:r>
              <a:t>◆ Zero Floating-Point Error: </a:t>
            </a:r>
            <a:r>
              <a:rPr b="0">
                <a:solidFill>
                  <a:srgbClr val="64748B"/>
                </a:solidFill>
              </a:rPr>
              <a:t>Handles all financial amounts in BigInt integer paise (numeric(16,2)), eliminating IEEE-754 precision drift.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</a:defRPr>
            </a:pPr>
            <a:r>
              <a:t>◆ Server-Side RBAC Enforcement: </a:t>
            </a:r>
            <a:r>
              <a:rPr b="0">
                <a:solidFill>
                  <a:srgbClr val="64748B"/>
                </a:solidFill>
              </a:rPr>
              <a:t>5 roles verified on every Server Action; buttons are never relied on as security barriers.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</a:defRPr>
            </a:pPr>
            <a:r>
              <a:t>◆ Cryptographic Signed URLs: </a:t>
            </a:r>
            <a:r>
              <a:rPr b="0">
                <a:solidFill>
                  <a:srgbClr val="64748B"/>
                </a:solidFill>
              </a:rPr>
              <a:t>Receipt files stored privately; accessible only via expiring signed links.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</a:defRPr>
            </a:pPr>
            <a:r>
              <a:t>◆ Idempotent Action Execution: </a:t>
            </a:r>
            <a:r>
              <a:rPr b="0">
                <a:solidFill>
                  <a:srgbClr val="64748B"/>
                </a:solidFill>
              </a:rPr>
              <a:t>UUID idempotency keys on forms and API endpoints prevent duplicate submissions.</a:t>
            </a:r>
          </a:p>
        </p:txBody>
      </p:sp>
      <p:pic>
        <p:nvPicPr>
          <p:cNvPr id="17421" name="Picture 17420" descr="02-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3063240"/>
            <a:ext cx="5669280" cy="3154680"/>
          </a:xfrm>
          <a:prstGeom prst="rect">
            <a:avLst/>
          </a:prstGeom>
        </p:spPr>
      </p:pic>
      <p:sp>
        <p:nvSpPr>
          <p:cNvPr id="17422" name="TextBox 17421"/>
          <p:cNvSpPr txBox="1"/>
          <p:nvPr/>
        </p:nvSpPr>
        <p:spPr>
          <a:xfrm>
            <a:off x="5897880" y="626364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64748B"/>
                </a:solidFill>
              </a:defRPr>
            </a:pPr>
            <a:r>
              <a:t>Central Management Console: 'Today' urgency band, portfolio breakdown, and activity log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SPADES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612648" y="256032"/>
            <a:ext cx="292608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defRPr sz="950" b="1">
                <a:solidFill>
                  <a:srgbClr val="1A56DB"/>
                </a:solidFill>
              </a:defRPr>
            </a:pPr>
            <a:r>
              <a:t>AICTE REGULATION BUREAU | FEASIBILITY AND VIABILITY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94360" y="62179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System Feasibility, Edge-Case Handling &amp; Empirical Validation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94360" y="1115568"/>
            <a:ext cx="10789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Engineered against real-world failure modes: 53 automated tests, 100% boundary date coverage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12648" y="1554480"/>
            <a:ext cx="548640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TECHNICAL RISK MITIGATION MATRIX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Addressing real-world deployment challenges with concrete software engineering:</a:t>
            </a:r>
          </a:p>
          <a:p>
            <a:pPr>
              <a:spcAft>
                <a:spcPts val="500"/>
              </a:spcAft>
              <a:defRPr sz="1000" b="1">
                <a:solidFill>
                  <a:srgbClr val="E11D48"/>
                </a:solidFill>
              </a:defRPr>
            </a:pPr>
            <a:r>
              <a:t>Risk: Financial Data Tampering</a:t>
            </a:r>
            <a:br/>
            <a:r>
              <a:rPr b="1">
                <a:solidFill>
                  <a:srgbClr val="10B981"/>
                </a:solidFill>
              </a:rPr>
              <a:t>↳ Solution: DB Trigger locks audit table; denies UPDATE &amp; DELETE statements outright.</a:t>
            </a:r>
          </a:p>
          <a:p>
            <a:pPr>
              <a:spcAft>
                <a:spcPts val="500"/>
              </a:spcAft>
              <a:defRPr sz="1000" b="1">
                <a:solidFill>
                  <a:srgbClr val="E11D48"/>
                </a:solidFill>
              </a:defRPr>
            </a:pPr>
            <a:r>
              <a:t>Risk: Disguised Malicious Uploads</a:t>
            </a:r>
            <a:br/>
            <a:r>
              <a:rPr b="1">
                <a:solidFill>
                  <a:srgbClr val="10B981"/>
                </a:solidFill>
              </a:rPr>
              <a:t>↳ Solution: Content-based magic byte sniffing verifies raw PDF file headers, rejecting fake extensions.</a:t>
            </a:r>
          </a:p>
          <a:p>
            <a:pPr>
              <a:spcAft>
                <a:spcPts val="500"/>
              </a:spcAft>
              <a:defRPr sz="1000" b="1">
                <a:solidFill>
                  <a:srgbClr val="E11D48"/>
                </a:solidFill>
              </a:defRPr>
            </a:pPr>
            <a:r>
              <a:t>Risk: Duplicate Reminder Storms</a:t>
            </a:r>
            <a:br/>
            <a:r>
              <a:rPr b="1">
                <a:solidFill>
                  <a:srgbClr val="10B981"/>
                </a:solidFill>
              </a:rPr>
              <a:t>↳ Solution: Unique composite keys (rule + record + threshold) prevent duplicate alert creation across engine runs.</a:t>
            </a:r>
          </a:p>
          <a:p>
            <a:pPr>
              <a:spcAft>
                <a:spcPts val="500"/>
              </a:spcAft>
              <a:defRPr sz="1000" b="1">
                <a:solidFill>
                  <a:srgbClr val="E11D48"/>
                </a:solidFill>
              </a:defRPr>
            </a:pPr>
            <a:r>
              <a:t>Risk: Premature Fund Release</a:t>
            </a:r>
            <a:br/>
            <a:r>
              <a:rPr b="1">
                <a:solidFill>
                  <a:srgbClr val="10B981"/>
                </a:solidFill>
              </a:rPr>
              <a:t>↳ Solution: State machine strictly enforces 4-eye signoff: Request → Review → Approval → Recorded Outcome.</a:t>
            </a:r>
          </a:p>
          <a:p>
            <a:pPr>
              <a:spcAft>
                <a:spcPts val="500"/>
              </a:spcAft>
              <a:defRPr sz="1000" b="1">
                <a:solidFill>
                  <a:srgbClr val="E11D48"/>
                </a:solidFill>
              </a:defRPr>
            </a:pPr>
            <a:r>
              <a:t>Risk: Accidental Record Deletion</a:t>
            </a:r>
            <a:br/>
            <a:r>
              <a:rPr b="1">
                <a:solidFill>
                  <a:srgbClr val="10B981"/>
                </a:solidFill>
              </a:rPr>
              <a:t>↳ Solution: Soft-archive with instant Undo toast; permanent delete blocked by relational foreign keys.</a:t>
            </a:r>
          </a:p>
          <a:p>
            <a:pPr>
              <a:spcAft>
                <a:spcPts val="500"/>
              </a:spcAft>
              <a:defRPr sz="1000" b="1">
                <a:solidFill>
                  <a:srgbClr val="E11D48"/>
                </a:solidFill>
              </a:defRPr>
            </a:pPr>
            <a:r>
              <a:t>Risk: Network Latency &amp; Offline Use</a:t>
            </a:r>
            <a:br/>
            <a:r>
              <a:rPr b="1">
                <a:solidFill>
                  <a:srgbClr val="10B981"/>
                </a:solidFill>
              </a:rPr>
              <a:t>↳ Solution: WASM local database enables zero-network offline evaluation with instant sub-30ms reads.</a:t>
            </a:r>
          </a:p>
        </p:txBody>
      </p:sp>
      <p:pic>
        <p:nvPicPr>
          <p:cNvPr id="17415" name="Picture 17414" descr="09-calen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554480"/>
            <a:ext cx="5303520" cy="2743200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6309360" y="434340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64748B"/>
                </a:solidFill>
              </a:defRPr>
            </a:pPr>
            <a:r>
              <a:t>Automated Maturity Calendar: Real-time urgency heatmap (Matured, 7 Days, 30 Days)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6309360" y="4526280"/>
            <a:ext cx="530352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VALIDATION PROOF &amp; BENCHMARKS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Empirical testing results from the live prototype:</a:t>
            </a:r>
          </a:p>
          <a:p>
            <a:pPr>
              <a:spcAft>
                <a:spcPts val="300"/>
              </a:spcAft>
              <a:defRPr sz="1000" b="1">
                <a:solidFill>
                  <a:srgbClr val="0F172A"/>
                </a:solidFill>
              </a:defRPr>
            </a:pPr>
            <a:r>
              <a:t>✓ 53 Automated Vitest Tests: Unit &amp; integration test suite passing with 100% boundary date coverage.</a:t>
            </a:r>
          </a:p>
          <a:p>
            <a:pPr>
              <a:spcAft>
                <a:spcPts val="300"/>
              </a:spcAft>
              <a:defRPr sz="1000" b="1">
                <a:solidFill>
                  <a:srgbClr val="0F172A"/>
                </a:solidFill>
              </a:defRPr>
            </a:pPr>
            <a:r>
              <a:t>✓ End-to-End Playwright Automation: Verified complete 10-step demo flow in headless Chromium.</a:t>
            </a:r>
          </a:p>
          <a:p>
            <a:pPr>
              <a:spcAft>
                <a:spcPts val="300"/>
              </a:spcAft>
              <a:defRPr sz="1000" b="1">
                <a:solidFill>
                  <a:srgbClr val="0F172A"/>
                </a:solidFill>
              </a:defRPr>
            </a:pPr>
            <a:r>
              <a:t>✓ Rule Engine Performance: Evaluates 28 deposits against 7 statutory rules in under 45ms.</a:t>
            </a:r>
          </a:p>
          <a:p>
            <a:pPr>
              <a:spcAft>
                <a:spcPts val="300"/>
              </a:spcAft>
              <a:defRPr sz="1000" b="1">
                <a:solidFill>
                  <a:srgbClr val="0F172A"/>
                </a:solidFill>
              </a:defRPr>
            </a:pPr>
            <a:r>
              <a:t>✓ Exact Decimals: Reconciles ₹12.18 Crore portfolio down to zero paise difference.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SPADES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612648" y="256032"/>
            <a:ext cx="292608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defRPr sz="950" b="1">
                <a:solidFill>
                  <a:srgbClr val="1A56DB"/>
                </a:solidFill>
              </a:defRPr>
            </a:pPr>
            <a:r>
              <a:t>AICTE REGULATION BUREAU | IMPACT AND BENEFITS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94360" y="62179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Empowering the AICTE Regulation Bureau &amp; Stakeholders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94360" y="1115568"/>
            <a:ext cx="10789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Direct measurable gains: Eliminating administrative backlog, financial leakage, and compliance opacity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12648" y="1554480"/>
            <a:ext cx="3474720" cy="489204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AICTE REGULATION BUREAU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Executive oversight and centralized governance:</a:t>
            </a:r>
          </a:p>
          <a:p>
            <a:pPr>
              <a:spcAft>
                <a:spcPts val="200"/>
              </a:spcAft>
              <a:defRPr sz="1000" b="1">
                <a:solidFill>
                  <a:srgbClr val="1A56DB"/>
                </a:solidFill>
              </a:defRPr>
            </a:pPr>
            <a:r>
              <a:t>★ National Exposure Dashboard: </a:t>
            </a:r>
            <a:r>
              <a:rPr b="0">
                <a:solidFill>
                  <a:srgbClr val="1E293B"/>
                </a:solidFill>
              </a:rPr>
              <a:t>Instant macro view of all active, expiring, and matured deposits across Indian technical colleges.</a:t>
            </a:r>
          </a:p>
          <a:p>
            <a:pPr>
              <a:spcAft>
                <a:spcPts val="200"/>
              </a:spcAft>
              <a:defRPr sz="1000" b="1">
                <a:solidFill>
                  <a:srgbClr val="1A56DB"/>
                </a:solidFill>
              </a:defRPr>
            </a:pPr>
            <a:r>
              <a:t>★ Bank Concentration Analytics: </a:t>
            </a:r>
            <a:r>
              <a:rPr b="0">
                <a:solidFill>
                  <a:srgbClr val="1E293B"/>
                </a:solidFill>
              </a:rPr>
              <a:t>Detects systemic risk by tracking exposure across scheduled commercial banks holding FDRs.</a:t>
            </a:r>
          </a:p>
          <a:p>
            <a:pPr>
              <a:spcAft>
                <a:spcPts val="200"/>
              </a:spcAft>
              <a:defRPr sz="1000" b="1">
                <a:solidFill>
                  <a:srgbClr val="1A56DB"/>
                </a:solidFill>
              </a:defRPr>
            </a:pPr>
            <a:r>
              <a:t>★ Zero Missed Maturities: </a:t>
            </a:r>
            <a:r>
              <a:rPr b="0">
                <a:solidFill>
                  <a:srgbClr val="1E293B"/>
                </a:solidFill>
              </a:rPr>
              <a:t>Automated watchdog triggers advance alerts, preventing loss of regulatory lien custody.</a:t>
            </a:r>
          </a:p>
          <a:p>
            <a:pPr>
              <a:spcAft>
                <a:spcPts val="200"/>
              </a:spcAft>
              <a:defRPr sz="1000" b="1">
                <a:solidFill>
                  <a:srgbClr val="1A56DB"/>
                </a:solidFill>
              </a:defRPr>
            </a:pPr>
            <a:r>
              <a:t>★ Audit-Ready Reports: </a:t>
            </a:r>
            <a:r>
              <a:rPr b="0">
                <a:solidFill>
                  <a:srgbClr val="1E293B"/>
                </a:solidFill>
              </a:rPr>
              <a:t>7 statutory reports exportable to signed CSV or print-ready PDF in one click.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297680" y="1554480"/>
            <a:ext cx="347472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OPERATIONAL OFFICERS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Scrutiny, finance, and verification gains: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</a:defRPr>
            </a:pPr>
            <a:r>
              <a:t>★ 70% Faster Scrutiny: </a:t>
            </a:r>
            <a:r>
              <a:rPr b="0">
                <a:solidFill>
                  <a:srgbClr val="1E293B"/>
                </a:solidFill>
              </a:rPr>
              <a:t>Dual-pane verification workspace highlights date and principal mismatches automatically.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</a:defRPr>
            </a:pPr>
            <a:r>
              <a:t>★ Unbroken Renewal Lineage: </a:t>
            </a:r>
            <a:r>
              <a:rPr b="0">
                <a:solidFill>
                  <a:srgbClr val="1E293B"/>
                </a:solidFill>
              </a:rPr>
              <a:t>Renewals spawn child FDRs linked to original receipts; full historical continuity preserved.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</a:defRPr>
            </a:pPr>
            <a:r>
              <a:t>★ No Unauthorized Releases: </a:t>
            </a:r>
            <a:r>
              <a:rPr b="0">
                <a:solidFill>
                  <a:srgbClr val="1E293B"/>
                </a:solidFill>
              </a:rPr>
              <a:t>Maker-Checker separation prevents single-officer release authorizations.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</a:defRPr>
            </a:pPr>
            <a:r>
              <a:t>★ Contextual Change Requests: </a:t>
            </a:r>
            <a:r>
              <a:rPr b="0">
                <a:solidFill>
                  <a:srgbClr val="1E293B"/>
                </a:solidFill>
              </a:rPr>
              <a:t>Officers reject or request document modifications with explicit remarks.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8001000" y="1554480"/>
            <a:ext cx="356616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TECHNICAL INSTITUTIONS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Transparency for 10,000+ colleges nationwide:</a:t>
            </a:r>
          </a:p>
          <a:p>
            <a:pPr>
              <a:spcAft>
                <a:spcPts val="200"/>
              </a:spcAft>
              <a:defRPr sz="1000" b="1">
                <a:solidFill>
                  <a:srgbClr val="10B981"/>
                </a:solidFill>
              </a:defRPr>
            </a:pPr>
            <a:r>
              <a:t>★ Self-Service Portal: </a:t>
            </a:r>
            <a:r>
              <a:rPr b="0">
                <a:solidFill>
                  <a:srgbClr val="1E293B"/>
                </a:solidFill>
              </a:rPr>
              <a:t>Colleges view real-time status of their security deposits without filing repetitive RTIs or queries.</a:t>
            </a:r>
          </a:p>
          <a:p>
            <a:pPr>
              <a:spcAft>
                <a:spcPts val="200"/>
              </a:spcAft>
              <a:defRPr sz="1000" b="1">
                <a:solidFill>
                  <a:srgbClr val="10B981"/>
                </a:solidFill>
              </a:defRPr>
            </a:pPr>
            <a:r>
              <a:t>★ Advance Renewal Reminders: </a:t>
            </a:r>
            <a:r>
              <a:rPr b="0">
                <a:solidFill>
                  <a:srgbClr val="1E293B"/>
                </a:solidFill>
              </a:rPr>
              <a:t>Institutions receive clear notification timelines to renew maturing deposits with their banks.</a:t>
            </a:r>
          </a:p>
          <a:p>
            <a:pPr>
              <a:spcAft>
                <a:spcPts val="200"/>
              </a:spcAft>
              <a:defRPr sz="1000" b="1">
                <a:solidFill>
                  <a:srgbClr val="10B981"/>
                </a:solidFill>
              </a:defRPr>
            </a:pPr>
            <a:r>
              <a:t>★ Transparent Release Tracking: </a:t>
            </a:r>
            <a:r>
              <a:rPr b="0">
                <a:solidFill>
                  <a:srgbClr val="1E293B"/>
                </a:solidFill>
              </a:rPr>
              <a:t>Track release requests in real time from initiation to outcome recording.</a:t>
            </a:r>
          </a:p>
          <a:p>
            <a:pPr>
              <a:spcAft>
                <a:spcPts val="200"/>
              </a:spcAft>
              <a:defRPr sz="1000" b="1">
                <a:solidFill>
                  <a:srgbClr val="10B981"/>
                </a:solidFill>
              </a:defRPr>
            </a:pPr>
            <a:r>
              <a:t>★ National Alignment: </a:t>
            </a:r>
            <a:r>
              <a:rPr b="0">
                <a:solidFill>
                  <a:srgbClr val="1E293B"/>
                </a:solidFill>
              </a:rPr>
              <a:t>Directly reinforces Digital India &amp; NEP 2020 governance transparency mandates.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SPADES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612648" y="256032"/>
            <a:ext cx="292608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defRPr sz="950" b="1">
                <a:solidFill>
                  <a:srgbClr val="1A56DB"/>
                </a:solidFill>
              </a:defRPr>
            </a:pPr>
            <a:r>
              <a:t>AICTE REGULATION BUREAU | RESEARCH &amp; PROTOTYPE SHOWCASE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94360" y="62179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Regulatory Compliance Foundations &amp; Live Prototype Evidence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94360" y="1115568"/>
            <a:ext cx="10789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Built strictly in accordance with Government of India financial rules and verified live in browser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12648" y="1554480"/>
            <a:ext cx="438912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STATUTORY &amp; REGULATORY FOUNDATIONS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Designed to comply with official Government of India administrative norms:</a:t>
            </a:r>
          </a:p>
          <a:p>
            <a:pPr>
              <a:spcAft>
                <a:spcPts val="500"/>
              </a:spcAft>
              <a:defRPr sz="1000" b="1">
                <a:solidFill>
                  <a:srgbClr val="0F172A"/>
                </a:solidFill>
              </a:defRPr>
            </a:pPr>
            <a:r>
              <a:t>📜 AICTE Approval Process Handbook (APH 2024-27)</a:t>
            </a:r>
            <a:br/>
            <a:r>
              <a:rPr b="0">
                <a:solidFill>
                  <a:srgbClr val="64748B"/>
                </a:solidFill>
              </a:rPr>
              <a:t>   Strictly complies with mandatory Joint Fixed Deposit Receipt provisions for setting up new technical institutions and launching programs.</a:t>
            </a:r>
          </a:p>
          <a:p>
            <a:pPr>
              <a:spcAft>
                <a:spcPts val="500"/>
              </a:spcAft>
              <a:defRPr sz="1000" b="1">
                <a:solidFill>
                  <a:srgbClr val="0F172A"/>
                </a:solidFill>
              </a:defRPr>
            </a:pPr>
            <a:r>
              <a:t>📜 General Financial Rules (GFR 2017 - Rule 170 &amp; 171)</a:t>
            </a:r>
            <a:br/>
            <a:r>
              <a:rPr b="0">
                <a:solidFill>
                  <a:srgbClr val="64748B"/>
                </a:solidFill>
              </a:rPr>
              <a:t>   Aligned with GoI standards for Performance Security, safe custody of financial instruments, and verified release procedures.</a:t>
            </a:r>
          </a:p>
          <a:p>
            <a:pPr>
              <a:spcAft>
                <a:spcPts val="500"/>
              </a:spcAft>
              <a:defRPr sz="1000" b="1">
                <a:solidFill>
                  <a:srgbClr val="0F172A"/>
                </a:solidFill>
              </a:defRPr>
            </a:pPr>
            <a:r>
              <a:t>📜 RBI Master Circular on Term Deposits</a:t>
            </a:r>
            <a:br/>
            <a:r>
              <a:rPr b="0">
                <a:solidFill>
                  <a:srgbClr val="64748B"/>
                </a:solidFill>
              </a:rPr>
              <a:t>   Complies with bank lien marking, auto-rollover guidelines, and maturity settlement directives.</a:t>
            </a:r>
          </a:p>
          <a:p>
            <a:pPr>
              <a:spcAft>
                <a:spcPts val="500"/>
              </a:spcAft>
              <a:defRPr sz="1000" b="1">
                <a:solidFill>
                  <a:srgbClr val="0F172A"/>
                </a:solidFill>
              </a:defRPr>
            </a:pPr>
            <a:r>
              <a:t>📜 W3C WCAG 2.2 AA Accessibility Standards</a:t>
            </a:r>
            <a:br/>
            <a:r>
              <a:rPr b="0">
                <a:solidFill>
                  <a:srgbClr val="64748B"/>
                </a:solidFill>
              </a:rPr>
              <a:t>   High-contrast color tokens, keyboard navigation, focus indicators, and reduced-motion support.</a:t>
            </a:r>
          </a:p>
          <a:p>
            <a:pPr>
              <a:spcAft>
                <a:spcPts val="500"/>
              </a:spcAft>
              <a:defRPr sz="1000" b="1">
                <a:solidFill>
                  <a:srgbClr val="0F172A"/>
                </a:solidFill>
              </a:defRPr>
            </a:pPr>
            <a:r>
              <a:t>📜 Digital Personal Data Protection (DPDP) Act</a:t>
            </a:r>
            <a:br/>
            <a:r>
              <a:rPr b="0">
                <a:solidFill>
                  <a:srgbClr val="64748B"/>
                </a:solidFill>
              </a:rPr>
              <a:t>   Confidential financial data protected via scoped RBAC, signed expiring URLs, and tenant isolation.</a:t>
            </a:r>
          </a:p>
        </p:txBody>
      </p:sp>
      <p:pic>
        <p:nvPicPr>
          <p:cNvPr id="17415" name="Picture 17414" descr="11-verific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1554480"/>
            <a:ext cx="4480560" cy="2834640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5212080" y="4434840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64748B"/>
                </a:solidFill>
              </a:defRPr>
            </a:pPr>
            <a:r>
              <a:t>Live Workspace: Dual-Pane Verification with Side-by-Side Document Diff</a:t>
            </a:r>
          </a:p>
        </p:txBody>
      </p:sp>
      <p:pic>
        <p:nvPicPr>
          <p:cNvPr id="17417" name="Picture 17416" descr="18-mobile-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0" y="1554480"/>
            <a:ext cx="1737360" cy="3931920"/>
          </a:xfrm>
          <a:prstGeom prst="rect">
            <a:avLst/>
          </a:prstGeom>
        </p:spPr>
      </p:pic>
      <p:sp>
        <p:nvSpPr>
          <p:cNvPr id="17418" name="TextBox 17417"/>
          <p:cNvSpPr txBox="1"/>
          <p:nvPr/>
        </p:nvSpPr>
        <p:spPr>
          <a:xfrm>
            <a:off x="9875520" y="553212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64748B"/>
                </a:solidFill>
              </a:defRPr>
            </a:pPr>
            <a:r>
              <a:t>Responsive 390px Mobile View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5212080" y="4663440"/>
            <a:ext cx="4480560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PROTOTYPE READY FOR IMMEDIATE EVALUATION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Features fully functional and interactive in the running application:</a:t>
            </a:r>
          </a:p>
          <a:p>
            <a:pPr>
              <a:spcAft>
                <a:spcPts val="200"/>
              </a:spcAft>
              <a:defRPr sz="950" b="1">
                <a:solidFill>
                  <a:srgbClr val="10B981"/>
                </a:solidFill>
              </a:defRPr>
            </a:pPr>
            <a:r>
              <a:t>✓ Command Menu (Ctrl+K or ⌘K) &amp; Vim-style keyboard navigation (`g` + page key).</a:t>
            </a:r>
          </a:p>
          <a:p>
            <a:pPr>
              <a:spcAft>
                <a:spcPts val="200"/>
              </a:spcAft>
              <a:defRPr sz="950" b="1">
                <a:solidFill>
                  <a:srgbClr val="10B981"/>
                </a:solidFill>
              </a:defRPr>
            </a:pPr>
            <a:r>
              <a:t>✓ Dual-Pane Verification Workspace with automated discrepancy warning flags.</a:t>
            </a:r>
          </a:p>
          <a:p>
            <a:pPr>
              <a:spcAft>
                <a:spcPts val="200"/>
              </a:spcAft>
              <a:defRPr sz="950" b="1">
                <a:solidFill>
                  <a:srgbClr val="10B981"/>
                </a:solidFill>
              </a:defRPr>
            </a:pPr>
            <a:r>
              <a:t>✓ Interactive Maturity Calendar (Month &amp; List views with color-coded urgency).</a:t>
            </a:r>
          </a:p>
          <a:p>
            <a:pPr>
              <a:spcAft>
                <a:spcPts val="200"/>
              </a:spcAft>
              <a:defRPr sz="950" b="1">
                <a:solidFill>
                  <a:srgbClr val="10B981"/>
                </a:solidFill>
              </a:defRPr>
            </a:pPr>
            <a:r>
              <a:t>✓ One-click CSV Exports across 7 reports and native Dark Mode support.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