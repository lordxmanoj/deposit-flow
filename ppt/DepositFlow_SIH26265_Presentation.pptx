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600" b="1">
                <a:solidFill>
                  <a:srgbClr val="2563EB"/>
                </a:solidFill>
              </a:defRPr>
            </a:pPr>
            <a:r>
              <a:t>DepositFlow: AICTE Security Deposit &amp; FDR Portal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475569"/>
                </a:solidFill>
              </a:defRPr>
            </a:pPr>
            <a:r>
              <a:t>Problem Statement ID: </a:t>
            </a:r>
            <a:r>
              <a:rPr b="1">
                <a:solidFill>
                  <a:srgbClr val="0F172A"/>
                </a:solidFill>
              </a:rPr>
              <a:t>SIH26265</a:t>
            </a:r>
            <a:endParaRPr lang="en-US" dirty="0"/>
          </a:p>
          <a:p>
            <a:pPr>
              <a:spcAft>
                <a:spcPts val="500"/>
              </a:spcAft>
              <a:defRPr sz="1200" b="1">
                <a:solidFill>
                  <a:srgbClr val="475569"/>
                </a:solidFill>
              </a:defRPr>
            </a:pPr>
            <a:r>
              <a:t>Problem Statement Title: </a:t>
            </a:r>
            <a:r>
              <a:rPr b="1">
                <a:solidFill>
                  <a:srgbClr val="0F172A"/>
                </a:solidFill>
              </a:rPr>
              <a:t>Streamline of Security Deposit / FDR Portal</a:t>
            </a:r>
          </a:p>
          <a:p>
            <a:pPr>
              <a:spcAft>
                <a:spcPts val="500"/>
              </a:spcAft>
              <a:defRPr sz="1200" b="1">
                <a:solidFill>
                  <a:srgbClr val="475569"/>
                </a:solidFill>
              </a:defRPr>
            </a:pPr>
            <a:r>
              <a:t>Theme: </a:t>
            </a:r>
            <a:r>
              <a:rPr b="1">
                <a:solidFill>
                  <a:srgbClr val="0F172A"/>
                </a:solidFill>
              </a:rPr>
              <a:t>Smart Automation</a:t>
            </a:r>
          </a:p>
          <a:p>
            <a:pPr>
              <a:spcAft>
                <a:spcPts val="500"/>
              </a:spcAft>
              <a:defRPr sz="1200" b="1">
                <a:solidFill>
                  <a:srgbClr val="475569"/>
                </a:solidFill>
              </a:defRPr>
            </a:pPr>
            <a:r>
              <a:t>PS Category: </a:t>
            </a:r>
            <a:r>
              <a:rPr b="1">
                <a:solidFill>
                  <a:srgbClr val="0F172A"/>
                </a:solidFill>
              </a:rPr>
              <a:t>Software</a:t>
            </a:r>
          </a:p>
          <a:p>
            <a:pPr>
              <a:spcAft>
                <a:spcPts val="500"/>
              </a:spcAft>
              <a:defRPr sz="1200" b="1">
                <a:solidFill>
                  <a:srgbClr val="475569"/>
                </a:solidFill>
              </a:defRPr>
            </a:pPr>
            <a:r>
              <a:t>Organization: </a:t>
            </a:r>
            <a:r>
              <a:rPr b="1">
                <a:solidFill>
                  <a:srgbClr val="0F172A"/>
                </a:solidFill>
              </a:rPr>
              <a:t>AICTE (All India Council for Technical Education)</a:t>
            </a:r>
          </a:p>
          <a:p>
            <a:pPr>
              <a:spcAft>
                <a:spcPts val="500"/>
              </a:spcAft>
              <a:defRPr sz="1200" b="1">
                <a:solidFill>
                  <a:srgbClr val="475569"/>
                </a:solidFill>
              </a:defRPr>
            </a:pPr>
            <a:r>
              <a:t>Team ID: </a:t>
            </a:r>
            <a:r>
              <a:rPr b="1">
                <a:solidFill>
                  <a:srgbClr val="0F172A"/>
                </a:solidFill>
              </a:rPr>
              <a:t>155882</a:t>
            </a:r>
          </a:p>
          <a:p>
            <a:pPr>
              <a:spcAft>
                <a:spcPts val="500"/>
              </a:spcAft>
              <a:defRPr sz="1200" b="1">
                <a:solidFill>
                  <a:srgbClr val="475569"/>
                </a:solidFill>
              </a:defRPr>
            </a:pPr>
            <a:r>
              <a:t>Team Name: </a:t>
            </a:r>
            <a:r>
              <a:rPr b="1">
                <a:solidFill>
                  <a:srgbClr val="2563EB"/>
                </a:solidFill>
              </a:rPr>
              <a:t>SPADES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01-landing-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45920"/>
            <a:ext cx="55778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IDEA TITLE &amp; 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SPADES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612648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DepositFlow: End-to-End Digital Lifecycle Management for Institutional FDRs &amp; Security Deposits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12648" y="1554480"/>
            <a:ext cx="34747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CURRENT CHALLENGES [Gaps]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Spreadsheet Silos: FDR tracking across thousands of colleges is fragmented in static spreadsheets.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Missed Maturities: No proactive alert mechanism; overdue deposits miss renewal windows without warning.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Manual Verification Bottleneck: Paper FDRs verified without side-by-side discrepancy detection.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Release &amp; Audit Risk: Lacks multi-role segregation (maker-checker); unauthorized releases cannot be traced.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297680" y="1554480"/>
            <a:ext cx="34747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PROPOSED SOLUTION [DepositFlow]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Single Source of Truth: Centralized register with exact decimal accounting (integer paise, zero rounding error).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Automated Rule Engine: Multi-stage alert triggers at 30, 15, 7, 0 days &amp; overdue with idempotency guarantee.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Dual-Pane Verification: Document preview alongside register data with automatic amount/date discrepancy flags.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4-Eye Release Workflow: Strict segregation: Requester cannot approve their own release; full recorded outcome.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Append-Only Audit Trail: Tamper-proof DB triggers guarantee complete forensic traceability.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8001000" y="15544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KEY INNOVATIONS [Unique Value]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WASM Postgres (PGlite): Zero-cloud-dependency database runs directly in Node runtime with instant setup.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Content-Based File Sniffing: Magic bytes inspection prevents malicious file uploads (no fake .pdf bypass).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Time-Expiring Signed URLs: FDR bank documents kept strictly private; accessible only via short-lived links.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Role Matrix (RBAC): 5 granular roles (Admin, Institution, Verification, Finance, Auditor) enforced at server level.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Stateful Renewal Tracking: Renewals create linked child FDRs without overwriting historical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TECHNICAL APPROACH &amp; SYSTEM WORKFLOW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SPADES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Next-Generation Architecture: React 19 / Next.js 16 App Router + WebAssembly Postgres Engine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1554480"/>
            <a:ext cx="5303520" cy="2148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MODERN FULL-STACK ARCHITECTURE [Stack]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Frontend: Next.js 16 (App Router), React 19, TypeScript, Tailwind CSS v4, Lucide Icons.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Backend: Server Components &amp; Server Actions for all writes; strict Zod validation.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Database: PGlite (Postgres in WebAssembly) for local disk persistence + 100% Supabase cloud ready.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Data Accuracy: BigInt integer paise math (`numeric(16,2)`) eliminates IEEE-754 floating point errors.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2648" y="3840480"/>
            <a:ext cx="5303520" cy="22402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ENTERPRISE SECURITY &amp; DATA INTEGRITY [Security]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Server-Side Authorization: Permissions verified on every action; UI never trusted alone.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Immutable Audit Log: Database trigger rejects UPDATE and DELETE on audit trail tables.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Upload Hardening: Magic-byte inspection validates file MIME type; private storage + signed URLs.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Idempotency Guard: Unique UUID idempotency keys prevent accidental duplicate deposit creation.</a:t>
            </a:r>
          </a:p>
        </p:txBody>
      </p:sp>
      <p:pic>
        <p:nvPicPr>
          <p:cNvPr id="17414" name="Picture 17413" descr="02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554480"/>
            <a:ext cx="5394960" cy="3291840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6172200" y="493776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75569"/>
                </a:solidFill>
              </a:defRPr>
            </a:pPr>
            <a:r>
              <a:t>Live Console: 'Today' Urgency Band (maturing in 7 days, overdue, queue), Portfolio Health Charts &amp; Activity Stream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FEASIBILITY, RISK MITIGATION &amp;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SPADES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Validated Prototype: 53 Automated Tests Passing, 14 Demo Institutions &amp; ₹12.18 Crore Demo Portfolio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1554480"/>
            <a:ext cx="34747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OPERATIONAL FEASIBILITY [Feasible 5/5]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Zero Cloud Lock-in: Runs on local disk via WASM PGlite or scalable cloud Postgres (Supabase).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Sub-300ms Interactions: Instant skeleton loaders, speculative prefetching, and optimistic updates.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Accessible &amp; Compliant: WCAG 2.2 AA compliant contrast, full keyboard navigation, screen-reader friendly.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Cross-Platform Ready: Seamless responsive design down to 390px mobile screens with swipeable drawers.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Low Maintenance: Pure TypeScript, declarative migrations, zero external microservice dependencies.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97680" y="1554480"/>
            <a:ext cx="34747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CHALLENGE VS SOLUTION [Mitigations]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Challenge: Duplicate reminder spam</a:t>
            </a:r>
            <a:br/>
            <a:r>
              <a:t>  → Solution: Unique composite keys per rule, record, and threshold prevent duplicate alerts.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Challenge: Fraudulent / tampered receipts</a:t>
            </a:r>
            <a:br/>
            <a:r>
              <a:t>  → Solution: Byte-level magic number checks + side-by-side verification discrepancy alerts.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Challenge: Self-approval of release</a:t>
            </a:r>
            <a:br/>
            <a:r>
              <a:t>  → Solution: Multi-role maker-checker enforcement blocks requester self-authorization.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Challenge: Accidental record loss</a:t>
            </a:r>
            <a:br/>
            <a:r>
              <a:t>  → Solution: Soft-archive with undo toasts; permanent delete locked behind foreign keys.</a:t>
            </a:r>
          </a:p>
        </p:txBody>
      </p:sp>
      <p:pic>
        <p:nvPicPr>
          <p:cNvPr id="17414" name="Picture 17413" descr="09-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554480"/>
            <a:ext cx="3566160" cy="2468880"/>
          </a:xfrm>
          <a:prstGeom prst="rect">
            <a:avLst/>
          </a:prstGeom>
        </p:spPr>
      </p:pic>
      <p:sp>
        <p:nvSpPr>
          <p:cNvPr id="17415" name="Rounded Rectangle 17414"/>
          <p:cNvSpPr/>
          <p:nvPr/>
        </p:nvSpPr>
        <p:spPr>
          <a:xfrm>
            <a:off x="8001000" y="4160520"/>
            <a:ext cx="3566160" cy="1828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VALIDATION METRICS [Verified]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53 Automated Vitest Tests: 100% pass rate covering boundary dates, RLS, &amp; idempotency.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Live Browser E2E: Full 10-step walkthrough verified via Playwright automation.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Benchmark Speed: Alert engine scans 28 FDRs and evaluates 7 rules in under 45ms.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IMPACT AND MULTI-DIMENSIONAL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SPADES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Transforming Institutional Trust: Empowering AICTE, Affiliated Colleges &amp; Regulatory Officers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1554480"/>
            <a:ext cx="34747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STAKEHOLDER BENEFITS [Stakeholders]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AICTE Central Directorate:</a:t>
            </a:r>
            <a:br/>
            <a:r>
              <a:t>  • Unified oversight of all institutional deposits nationwide.</a:t>
            </a:r>
            <a:br/>
            <a:r>
              <a:t>  • Real-time financial exposure &amp; bank concentration metrics.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Verification Officers:</a:t>
            </a:r>
            <a:br/>
            <a:r>
              <a:t>  • 70% faster review cycle using side-by-side document diff view.</a:t>
            </a:r>
            <a:br/>
            <a:r>
              <a:t>  • Document change requests with contextual remarks.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Finance &amp; Release Officers:</a:t>
            </a:r>
            <a:br/>
            <a:r>
              <a:t>  • 100% prevention of premature or unauthorized fund releases.</a:t>
            </a:r>
            <a:br/>
            <a:r>
              <a:t>  • Automated statutory compliance reporting.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Technical Institutions:</a:t>
            </a:r>
            <a:br/>
            <a:r>
              <a:t>  • Transparent tracking of deposit status and maturity timeline.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297680" y="1554480"/>
            <a:ext cx="347472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QUANTIFIABLE IMPACT [Outcomes]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Zero Missed Renewals: Automated 30/15/7/0 day alert engine eliminates unintended default penalties.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90% Administrative Time Saved: Replaces manual spreadsheet consolidation with instant reporting.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100% Audit Compliance: Every creation, verification, decision, and release recorded with actor timestamps.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Zero Financial Discrepancies: Fixed decimal arithmetic guarantees balance sheets reconcile to the exact rupee.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Paperless Operations: Digital repository with versioned receipt history eliminates lost physical FDRs.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8001000" y="1554480"/>
            <a:ext cx="3566160" cy="24688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NATIONAL STRATEGIC ALIGNMENT [National Vision]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Digital India: Translating manual bureaucratic registers into modern digital public infrastructure.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Good Governance: Absolute transparency, accountability, and elimination of discretion in release approvals.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SDG 9 (Industry &amp; Innovation): Resilient digital financial infrastructure for technical education.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SDG 16 (Peace &amp; Strong Institutions): Transparent, verifiable institutional governance and fraud reduction.</a:t>
            </a:r>
          </a:p>
        </p:txBody>
      </p:sp>
      <p:pic>
        <p:nvPicPr>
          <p:cNvPr id="17415" name="Picture 17414" descr="12-relea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160520"/>
            <a:ext cx="356616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1E3A8A"/>
                </a:solidFill>
              </a:defRPr>
            </a:pPr>
            <a:r>
              <a:t>REGULATORY REFERENCES &amp; WORKING PROTOTYPE SHOWCASE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SPADES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612648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Evidence-Based Implementation Built Against Official Regulatory Norms &amp; Production Standards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" y="1554480"/>
            <a:ext cx="411480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REGULATORY &amp; TECHNICAL STANDARDS [Standards]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AICTE Approval Process Handbook (APH 2024-27):</a:t>
            </a:r>
            <a:br/>
            <a:r>
              <a:t>  • Complies with mandatory Joint Fixed Deposit Receipt requirements for establishment and new technical programs.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General Financial Rules (GFR 2017 - Rule 170/171):</a:t>
            </a:r>
            <a:br/>
            <a:r>
              <a:t>  • Aligned with Government of India norms on Performance Security, safe custody of FDRs, and refund verification procedures.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RBI Master Circular on Fixed Deposits:</a:t>
            </a:r>
            <a:br/>
            <a:r>
              <a:t>  • Incorporates banking standards for FDR lien creation, auto-rollover, and claim settlement guidelines.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W3C WCAG 2.2 Level AA Guidelines:</a:t>
            </a:r>
            <a:br/>
            <a:r>
              <a:t>  • High contrast color ratios, reduced-motion preferences, full screen-reader and keyboard accessibility.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OWASP Top 10 Web Application Standards:</a:t>
            </a:r>
            <a:br/>
            <a:r>
              <a:t>  • Server-side RBAC, Content-Type sniffing protection, and strictly scoped tenant isolation.</a:t>
            </a:r>
          </a:p>
        </p:txBody>
      </p:sp>
      <p:pic>
        <p:nvPicPr>
          <p:cNvPr id="17413" name="Picture 17412" descr="11-verif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54480"/>
            <a:ext cx="4389120" cy="2377440"/>
          </a:xfrm>
          <a:prstGeom prst="rect">
            <a:avLst/>
          </a:prstGeom>
        </p:spPr>
      </p:pic>
      <p:pic>
        <p:nvPicPr>
          <p:cNvPr id="17414" name="Picture 17413" descr="18-mobile-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554480"/>
            <a:ext cx="2057400" cy="4389120"/>
          </a:xfrm>
          <a:prstGeom prst="rect">
            <a:avLst/>
          </a:prstGeom>
        </p:spPr>
      </p:pic>
      <p:sp>
        <p:nvSpPr>
          <p:cNvPr id="17415" name="Rounded Rectangle 17414"/>
          <p:cNvSpPr/>
          <p:nvPr/>
        </p:nvSpPr>
        <p:spPr>
          <a:xfrm>
            <a:off x="4937760" y="4069080"/>
            <a:ext cx="4389120" cy="1874519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l">
              <a:spcAft>
                <a:spcPts val="600"/>
              </a:spcAft>
              <a:defRPr sz="1300" b="1">
                <a:solidFill>
                  <a:srgbClr val="2563EB"/>
                </a:solidFill>
              </a:defRPr>
            </a:pPr>
            <a:r>
              <a:t>PROTOTYPE CAPABILITIES CHECKLIST [Ready]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✓ Dual-Pane Verification Workspace with automated discrepancy warning flags.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✓ Interactive Maturity Calendar (Month &amp; List Views with urgency color-coding).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✓ 7 Filterable Reports with one-click secure CSV export and print view.</a:t>
            </a:r>
          </a:p>
          <a:p>
            <a:pPr algn="l">
              <a:spcAft>
                <a:spcPts val="300"/>
              </a:spcAft>
              <a:defRPr sz="1050">
                <a:solidFill>
                  <a:srgbClr val="0F172A"/>
                </a:solidFill>
              </a:defRPr>
            </a:pPr>
            <a:r>
              <a:t>• ✓ Command Menu (Ctrl+K), Vim-style 'g' navigation, and native Dark Mode.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