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408" r:id="rId3"/>
    <p:sldId id="411" r:id="rId4"/>
    <p:sldId id="396" r:id="rId5"/>
    <p:sldId id="431" r:id="rId6"/>
    <p:sldId id="415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90" y="4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70F60-434C-0532-324A-F2FB9DD90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4EFB6FAE-D0D7-84B1-BCF9-4F18D1387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AE9D221F-C48D-082D-165F-C4DF725EC6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62F18C46-2290-B6FD-37B7-EE09838E2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43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986DE-606D-2ECC-8930-59DDF6B2B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DD459E84-0776-4364-6953-6AF9AAF01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9700FB64-D971-9C72-2FB4-766BBB8BCB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705423C7-3C32-8ED6-CCBD-71B15DDC9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7.svg"/><Relationship Id="rId3" Type="http://schemas.openxmlformats.org/officeDocument/2006/relationships/image" Target="../media/image3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24" Type="http://schemas.openxmlformats.org/officeDocument/2006/relationships/image" Target="../media/image23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sv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Relationship Id="rId22" Type="http://schemas.openxmlformats.org/officeDocument/2006/relationships/image" Target="../media/image2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39.svg"/><Relationship Id="rId3" Type="http://schemas.openxmlformats.org/officeDocument/2006/relationships/image" Target="../media/image2.png"/><Relationship Id="rId7" Type="http://schemas.openxmlformats.org/officeDocument/2006/relationships/image" Target="../media/image33.svg"/><Relationship Id="rId12" Type="http://schemas.openxmlformats.org/officeDocument/2006/relationships/image" Target="../media/image38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5" Type="http://schemas.openxmlformats.org/officeDocument/2006/relationships/image" Target="../media/image41.sv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svg"/><Relationship Id="rId14" Type="http://schemas.openxmlformats.org/officeDocument/2006/relationships/image" Target="../media/image4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2.png"/><Relationship Id="rId7" Type="http://schemas.openxmlformats.org/officeDocument/2006/relationships/image" Target="../media/image45.svg"/><Relationship Id="rId12" Type="http://schemas.openxmlformats.org/officeDocument/2006/relationships/image" Target="../media/image5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svg"/><Relationship Id="rId11" Type="http://schemas.openxmlformats.org/officeDocument/2006/relationships/image" Target="../media/image49.svg"/><Relationship Id="rId5" Type="http://schemas.openxmlformats.org/officeDocument/2006/relationships/image" Target="../media/image43.svg"/><Relationship Id="rId10" Type="http://schemas.openxmlformats.org/officeDocument/2006/relationships/image" Target="../media/image48.svg"/><Relationship Id="rId4" Type="http://schemas.openxmlformats.org/officeDocument/2006/relationships/image" Target="../media/image42.svg"/><Relationship Id="rId9" Type="http://schemas.openxmlformats.org/officeDocument/2006/relationships/image" Target="../media/image4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conferences.ctbto.org/event/7/contributions/1049?utm_source=chatgpt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conferences.ctbto.org/event/14/contributions/2278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ournals.ametsoc.org/view/journals/atot/29/9/jtech-d-11-00101_1.xml" TargetMode="External"/><Relationship Id="rId5" Type="http://schemas.openxmlformats.org/officeDocument/2006/relationships/hyperlink" Target="https://www.ctbto.org/our-work/monitoring-technologies/infrasound-monitoring" TargetMode="External"/><Relationship Id="rId10" Type="http://schemas.openxmlformats.org/officeDocument/2006/relationships/hyperlink" Target="https://micro-barometer-dashboard.vercel.app/" TargetMode="External"/><Relationship Id="rId4" Type="http://schemas.openxmlformats.org/officeDocument/2006/relationships/image" Target="../media/image51.png"/><Relationship Id="rId9" Type="http://schemas.openxmlformats.org/officeDocument/2006/relationships/hyperlink" Target="https://acoustics.asn.au/conference_proceedings/INTERNOISE2014/papers/p153.pdf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828800" y="839581"/>
            <a:ext cx="8534400" cy="17526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Indigenous Atmospheric Infrasound Monitoring Platform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162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SIH26144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 Sensitivity Micro-Barometer Infrasound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155882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SPADES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BA80B-1524-111F-D03C-B9DA9DF30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5AEE24-009F-AAB4-9A03-6F2ABD023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286" y="827612"/>
            <a:ext cx="3200400" cy="56769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PROBLEM STATEMENT &amp;</a:t>
            </a:r>
            <a:b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SPADES</a:t>
            </a:r>
          </a:p>
        </p:txBody>
      </p:sp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97FEDC70-0B43-BA47-8B54-CE886979B3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2865" y="252246"/>
            <a:ext cx="136876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SPADES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855E44-1E14-7967-53B7-47C4BC22B1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000" name="Text 3000"/>
          <p:cNvSpPr txBox="1"/>
          <p:nvPr/>
        </p:nvSpPr>
        <p:spPr>
          <a:xfrm>
            <a:off x="609600" y="1219200"/>
            <a:ext cx="2921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600" b="1" dirty="0">
                <a:solidFill>
                  <a:srgbClr val="595959"/>
                </a:solidFill>
              </a:rPr>
              <a:t>CHALLENGES</a:t>
            </a:r>
          </a:p>
        </p:txBody>
      </p:sp>
      <p:sp>
        <p:nvSpPr>
          <p:cNvPr id="3001" name="Text 3001"/>
          <p:cNvSpPr txBox="1"/>
          <p:nvPr/>
        </p:nvSpPr>
        <p:spPr>
          <a:xfrm>
            <a:off x="3657600" y="1219200"/>
            <a:ext cx="48768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600" b="1" dirty="0">
                <a:solidFill>
                  <a:srgbClr val="0070C0"/>
                </a:solidFill>
              </a:rPr>
              <a:t>PROPOSED SOLUTIONS</a:t>
            </a:r>
          </a:p>
        </p:txBody>
      </p:sp>
      <p:cxnSp>
        <p:nvCxnSpPr>
          <p:cNvPr id="3002" name="Line 3002"/>
          <p:cNvCxnSpPr/>
          <p:nvPr/>
        </p:nvCxnSpPr>
        <p:spPr>
          <a:xfrm>
            <a:off x="609600" y="1574800"/>
            <a:ext cx="2921000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3005" name="Shape 3005"/>
          <p:cNvSpPr/>
          <p:nvPr/>
        </p:nvSpPr>
        <p:spPr>
          <a:xfrm>
            <a:off x="609600" y="1651000"/>
            <a:ext cx="2921000" cy="393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06" name="Shape 3006"/>
          <p:cNvSpPr/>
          <p:nvPr/>
        </p:nvSpPr>
        <p:spPr>
          <a:xfrm>
            <a:off x="609600" y="1651000"/>
            <a:ext cx="50800" cy="393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8" name="Text 3008"/>
          <p:cNvSpPr txBox="1"/>
          <p:nvPr/>
        </p:nvSpPr>
        <p:spPr>
          <a:xfrm>
            <a:off x="1168400" y="1651000"/>
            <a:ext cx="23114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b="1" dirty="0">
                <a:solidFill>
                  <a:srgbClr val="262626"/>
                </a:solidFill>
              </a:rPr>
              <a:t>Wind Turbulence</a:t>
            </a:r>
          </a:p>
        </p:txBody>
      </p:sp>
      <p:sp>
        <p:nvSpPr>
          <p:cNvPr id="3014" name="Shape 3014"/>
          <p:cNvSpPr/>
          <p:nvPr/>
        </p:nvSpPr>
        <p:spPr>
          <a:xfrm>
            <a:off x="609600" y="2082800"/>
            <a:ext cx="2921000" cy="393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5" name="Shape 3015"/>
          <p:cNvSpPr/>
          <p:nvPr/>
        </p:nvSpPr>
        <p:spPr>
          <a:xfrm>
            <a:off x="609600" y="2082800"/>
            <a:ext cx="50800" cy="393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7" name="Text 3017"/>
          <p:cNvSpPr txBox="1"/>
          <p:nvPr/>
        </p:nvSpPr>
        <p:spPr>
          <a:xfrm>
            <a:off x="1168400" y="2082800"/>
            <a:ext cx="23114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b="1" dirty="0">
                <a:solidFill>
                  <a:srgbClr val="262626"/>
                </a:solidFill>
              </a:rPr>
              <a:t>Temperature Drift</a:t>
            </a:r>
          </a:p>
        </p:txBody>
      </p:sp>
      <p:sp>
        <p:nvSpPr>
          <p:cNvPr id="3023" name="Shape 3023"/>
          <p:cNvSpPr/>
          <p:nvPr/>
        </p:nvSpPr>
        <p:spPr>
          <a:xfrm>
            <a:off x="609600" y="2514600"/>
            <a:ext cx="2921000" cy="393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4" name="Shape 3024"/>
          <p:cNvSpPr/>
          <p:nvPr/>
        </p:nvSpPr>
        <p:spPr>
          <a:xfrm>
            <a:off x="609600" y="2514600"/>
            <a:ext cx="50800" cy="393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6" name="Text 3026"/>
          <p:cNvSpPr txBox="1"/>
          <p:nvPr/>
        </p:nvSpPr>
        <p:spPr>
          <a:xfrm>
            <a:off x="1168400" y="2514600"/>
            <a:ext cx="23114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b="1" dirty="0">
                <a:solidFill>
                  <a:srgbClr val="262626"/>
                </a:solidFill>
              </a:rPr>
              <a:t>Weather Pressure Variations</a:t>
            </a:r>
          </a:p>
        </p:txBody>
      </p:sp>
      <p:sp>
        <p:nvSpPr>
          <p:cNvPr id="3032" name="Shape 3032"/>
          <p:cNvSpPr/>
          <p:nvPr/>
        </p:nvSpPr>
        <p:spPr>
          <a:xfrm>
            <a:off x="609600" y="2946400"/>
            <a:ext cx="2921000" cy="393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10" name="Row8 3410"/>
          <p:cNvSpPr/>
          <p:nvPr/>
        </p:nvSpPr>
        <p:spPr>
          <a:xfrm>
            <a:off x="609600" y="4673600"/>
            <a:ext cx="2921000" cy="393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05" name="Row6 3405"/>
          <p:cNvSpPr/>
          <p:nvPr/>
        </p:nvSpPr>
        <p:spPr>
          <a:xfrm>
            <a:off x="609600" y="3810000"/>
            <a:ext cx="2921000" cy="393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00" name="Row5 3400"/>
          <p:cNvSpPr/>
          <p:nvPr/>
        </p:nvSpPr>
        <p:spPr>
          <a:xfrm>
            <a:off x="609600" y="3378200"/>
            <a:ext cx="2921000" cy="393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3" name="Shape 3033"/>
          <p:cNvSpPr/>
          <p:nvPr/>
        </p:nvSpPr>
        <p:spPr>
          <a:xfrm>
            <a:off x="609600" y="2946400"/>
            <a:ext cx="50800" cy="393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11" name="Row8 3411"/>
          <p:cNvSpPr/>
          <p:nvPr/>
        </p:nvSpPr>
        <p:spPr>
          <a:xfrm>
            <a:off x="609600" y="4673600"/>
            <a:ext cx="50800" cy="393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06" name="Row6 3406"/>
          <p:cNvSpPr/>
          <p:nvPr/>
        </p:nvSpPr>
        <p:spPr>
          <a:xfrm>
            <a:off x="609600" y="3810000"/>
            <a:ext cx="50800" cy="393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01" name="Row5 3401"/>
          <p:cNvSpPr/>
          <p:nvPr/>
        </p:nvSpPr>
        <p:spPr>
          <a:xfrm>
            <a:off x="609600" y="3378200"/>
            <a:ext cx="50800" cy="393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5" name="Text 3035"/>
          <p:cNvSpPr txBox="1"/>
          <p:nvPr/>
        </p:nvSpPr>
        <p:spPr>
          <a:xfrm>
            <a:off x="1168400" y="2946400"/>
            <a:ext cx="23114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b="1" dirty="0">
                <a:solidFill>
                  <a:srgbClr val="262626"/>
                </a:solidFill>
              </a:rPr>
              <a:t>Weak Infrasound Signals</a:t>
            </a:r>
          </a:p>
        </p:txBody>
      </p:sp>
      <p:sp>
        <p:nvSpPr>
          <p:cNvPr id="3413" name="Row8 3413"/>
          <p:cNvSpPr txBox="1"/>
          <p:nvPr/>
        </p:nvSpPr>
        <p:spPr>
          <a:xfrm>
            <a:off x="1168400" y="4673600"/>
            <a:ext cx="23114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b="1" dirty="0">
                <a:solidFill>
                  <a:srgbClr val="262626"/>
                </a:solidFill>
              </a:rPr>
              <a:t>Calibration Requirement</a:t>
            </a:r>
          </a:p>
        </p:txBody>
      </p:sp>
      <p:sp>
        <p:nvSpPr>
          <p:cNvPr id="3408" name="Row6 3408"/>
          <p:cNvSpPr txBox="1"/>
          <p:nvPr/>
        </p:nvSpPr>
        <p:spPr>
          <a:xfrm>
            <a:off x="1168400" y="3810000"/>
            <a:ext cx="23114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b="1" dirty="0">
                <a:solidFill>
                  <a:srgbClr val="262626"/>
                </a:solidFill>
              </a:rPr>
              <a:t>Long-Term Pressure Stability</a:t>
            </a:r>
          </a:p>
        </p:txBody>
      </p:sp>
      <p:sp>
        <p:nvSpPr>
          <p:cNvPr id="3403" name="Row5 3403"/>
          <p:cNvSpPr txBox="1"/>
          <p:nvPr/>
        </p:nvSpPr>
        <p:spPr>
          <a:xfrm>
            <a:off x="1168400" y="3378200"/>
            <a:ext cx="23114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b="1" dirty="0">
                <a:solidFill>
                  <a:srgbClr val="262626"/>
                </a:solidFill>
              </a:rPr>
              <a:t>Analog Signal Integrity</a:t>
            </a:r>
          </a:p>
        </p:txBody>
      </p:sp>
      <p:sp>
        <p:nvSpPr>
          <p:cNvPr id="3041" name="Shape 3041"/>
          <p:cNvSpPr/>
          <p:nvPr/>
        </p:nvSpPr>
        <p:spPr>
          <a:xfrm>
            <a:off x="609600" y="4241800"/>
            <a:ext cx="2921000" cy="393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2" name="Shape 3042"/>
          <p:cNvSpPr/>
          <p:nvPr/>
        </p:nvSpPr>
        <p:spPr>
          <a:xfrm>
            <a:off x="609600" y="4241800"/>
            <a:ext cx="50800" cy="393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4" name="Text 3044"/>
          <p:cNvSpPr txBox="1"/>
          <p:nvPr/>
        </p:nvSpPr>
        <p:spPr>
          <a:xfrm>
            <a:off x="1168400" y="4241800"/>
            <a:ext cx="23114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b="1" dirty="0">
                <a:solidFill>
                  <a:srgbClr val="262626"/>
                </a:solidFill>
              </a:rPr>
              <a:t>Event Identification</a:t>
            </a:r>
          </a:p>
        </p:txBody>
      </p:sp>
      <p:sp>
        <p:nvSpPr>
          <p:cNvPr id="3050" name="Shape 3050"/>
          <p:cNvSpPr/>
          <p:nvPr/>
        </p:nvSpPr>
        <p:spPr>
          <a:xfrm>
            <a:off x="609600" y="5105400"/>
            <a:ext cx="2921000" cy="393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299" name="Line 3299"/>
          <p:cNvCxnSpPr/>
          <p:nvPr/>
        </p:nvCxnSpPr>
        <p:spPr>
          <a:xfrm>
            <a:off x="3657600" y="1574800"/>
            <a:ext cx="4876800" cy="0"/>
          </a:xfrm>
          <a:prstGeom prst="line">
            <a:avLst/>
          </a:prstGeom>
          <a:ln w="12700">
            <a:solidFill>
              <a:srgbClr val="0070C0"/>
            </a:solidFill>
          </a:ln>
        </p:spPr>
      </p:cxnSp>
      <p:sp>
        <p:nvSpPr>
          <p:cNvPr id="3300" name="Solution bg 1"/>
          <p:cNvSpPr/>
          <p:nvPr/>
        </p:nvSpPr>
        <p:spPr>
          <a:xfrm>
            <a:off x="3657600" y="1651000"/>
            <a:ext cx="4876800" cy="3937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01" name="Solution bg 2"/>
          <p:cNvSpPr/>
          <p:nvPr/>
        </p:nvSpPr>
        <p:spPr>
          <a:xfrm>
            <a:off x="3657600" y="2082800"/>
            <a:ext cx="4876800" cy="3937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02" name="Solution bg 3"/>
          <p:cNvSpPr/>
          <p:nvPr/>
        </p:nvSpPr>
        <p:spPr>
          <a:xfrm>
            <a:off x="3657600" y="2514600"/>
            <a:ext cx="4876800" cy="3937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03" name="Solution bg 4"/>
          <p:cNvSpPr/>
          <p:nvPr/>
        </p:nvSpPr>
        <p:spPr>
          <a:xfrm>
            <a:off x="3657600" y="2946400"/>
            <a:ext cx="4876800" cy="3937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04" name="Solution bg 5"/>
          <p:cNvSpPr/>
          <p:nvPr/>
        </p:nvSpPr>
        <p:spPr>
          <a:xfrm>
            <a:off x="3657600" y="3378200"/>
            <a:ext cx="4876800" cy="3937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05" name="Solution bg 6"/>
          <p:cNvSpPr/>
          <p:nvPr/>
        </p:nvSpPr>
        <p:spPr>
          <a:xfrm>
            <a:off x="3657600" y="3810000"/>
            <a:ext cx="4876800" cy="3937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06" name="Solution bg 7"/>
          <p:cNvSpPr/>
          <p:nvPr/>
        </p:nvSpPr>
        <p:spPr>
          <a:xfrm>
            <a:off x="3657600" y="4241800"/>
            <a:ext cx="4876800" cy="3937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07" name="Solution bg 8"/>
          <p:cNvSpPr/>
          <p:nvPr/>
        </p:nvSpPr>
        <p:spPr>
          <a:xfrm>
            <a:off x="3657600" y="4673600"/>
            <a:ext cx="4876800" cy="3937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08" name="Solution bg 9"/>
          <p:cNvSpPr/>
          <p:nvPr/>
        </p:nvSpPr>
        <p:spPr>
          <a:xfrm>
            <a:off x="3657600" y="5105400"/>
            <a:ext cx="4876800" cy="3937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1" name="Shape 3051"/>
          <p:cNvSpPr/>
          <p:nvPr/>
        </p:nvSpPr>
        <p:spPr>
          <a:xfrm>
            <a:off x="609600" y="5105400"/>
            <a:ext cx="50800" cy="393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3" name="Text 3053"/>
          <p:cNvSpPr txBox="1"/>
          <p:nvPr/>
        </p:nvSpPr>
        <p:spPr>
          <a:xfrm>
            <a:off x="1168400" y="5105400"/>
            <a:ext cx="23114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b="1" dirty="0">
                <a:solidFill>
                  <a:srgbClr val="262626"/>
                </a:solidFill>
              </a:rPr>
              <a:t>Sensor Maintenance</a:t>
            </a:r>
          </a:p>
        </p:txBody>
      </p:sp>
      <p:sp>
        <p:nvSpPr>
          <p:cNvPr id="3059" name="Shape 3059"/>
          <p:cNvSpPr/>
          <p:nvPr/>
        </p:nvSpPr>
        <p:spPr>
          <a:xfrm>
            <a:off x="609600" y="5638800"/>
            <a:ext cx="7924800" cy="50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0" name="Shape 3060"/>
          <p:cNvSpPr/>
          <p:nvPr/>
        </p:nvSpPr>
        <p:spPr>
          <a:xfrm>
            <a:off x="609600" y="5638800"/>
            <a:ext cx="1778000" cy="5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1" name="Text 3061"/>
          <p:cNvSpPr txBox="1"/>
          <p:nvPr/>
        </p:nvSpPr>
        <p:spPr>
          <a:xfrm>
            <a:off x="1117600" y="5638800"/>
            <a:ext cx="12192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100" b="1" dirty="0">
                <a:solidFill>
                  <a:srgbClr val="FFFFFF"/>
                </a:solidFill>
              </a:rPr>
              <a:t>KEY INNOVATION</a:t>
            </a:r>
          </a:p>
        </p:txBody>
      </p:sp>
      <p:sp>
        <p:nvSpPr>
          <p:cNvPr id="3062" name="Text 3062"/>
          <p:cNvSpPr txBox="1"/>
          <p:nvPr/>
        </p:nvSpPr>
        <p:spPr>
          <a:xfrm>
            <a:off x="2819400" y="56388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150" b="1" dirty="0">
                <a:solidFill>
                  <a:srgbClr val="FFFFFF"/>
                </a:solidFill>
              </a:rPr>
              <a:t>Differential Measurement</a:t>
            </a:r>
          </a:p>
        </p:txBody>
      </p:sp>
      <p:sp>
        <p:nvSpPr>
          <p:cNvPr id="3063" name="Text 3063"/>
          <p:cNvSpPr txBox="1"/>
          <p:nvPr/>
        </p:nvSpPr>
        <p:spPr>
          <a:xfrm>
            <a:off x="5892800" y="56388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150" b="1" dirty="0">
                <a:solidFill>
                  <a:srgbClr val="FFFFFF"/>
                </a:solidFill>
              </a:rPr>
              <a:t>Pressure Equalization</a:t>
            </a:r>
          </a:p>
        </p:txBody>
      </p:sp>
      <p:sp>
        <p:nvSpPr>
          <p:cNvPr id="3065" name="Text 3065"/>
          <p:cNvSpPr txBox="1"/>
          <p:nvPr/>
        </p:nvSpPr>
        <p:spPr>
          <a:xfrm>
            <a:off x="2819400" y="58928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150" b="1" dirty="0">
                <a:solidFill>
                  <a:srgbClr val="FFFFFF"/>
                </a:solidFill>
              </a:rPr>
              <a:t>Reference Calibration</a:t>
            </a:r>
          </a:p>
        </p:txBody>
      </p:sp>
      <p:sp>
        <p:nvSpPr>
          <p:cNvPr id="3067" name="Text 3067"/>
          <p:cNvSpPr txBox="1"/>
          <p:nvPr/>
        </p:nvSpPr>
        <p:spPr>
          <a:xfrm>
            <a:off x="5892800" y="58928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150" b="1" dirty="0">
                <a:solidFill>
                  <a:srgbClr val="FFFFFF"/>
                </a:solidFill>
              </a:rPr>
              <a:t>STA/LTA Detection</a:t>
            </a:r>
          </a:p>
        </p:txBody>
      </p:sp>
      <p:pic>
        <p:nvPicPr>
          <p:cNvPr id="17410" name="Graphic 17410" descr="Wind turbule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1714500"/>
            <a:ext cx="266700" cy="266700"/>
          </a:xfrm>
          <a:prstGeom prst="rect">
            <a:avLst/>
          </a:prstGeom>
        </p:spPr>
      </p:pic>
      <p:pic>
        <p:nvPicPr>
          <p:cNvPr id="17411" name="Graphic 17411" descr="Temperature drif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400" y="2146300"/>
            <a:ext cx="266700" cy="266700"/>
          </a:xfrm>
          <a:prstGeom prst="rect">
            <a:avLst/>
          </a:prstGeom>
        </p:spPr>
      </p:pic>
      <p:pic>
        <p:nvPicPr>
          <p:cNvPr id="17412" name="Graphic 17412" descr="Pressure varia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7400" y="2578100"/>
            <a:ext cx="266700" cy="266700"/>
          </a:xfrm>
          <a:prstGeom prst="rect">
            <a:avLst/>
          </a:prstGeom>
        </p:spPr>
      </p:pic>
      <p:pic>
        <p:nvPicPr>
          <p:cNvPr id="17413" name="Graphic 17413" descr="Weak signal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400" y="3009900"/>
            <a:ext cx="266700" cy="266700"/>
          </a:xfrm>
          <a:prstGeom prst="rect">
            <a:avLst/>
          </a:prstGeom>
        </p:spPr>
      </p:pic>
      <p:pic>
        <p:nvPicPr>
          <p:cNvPr id="17415" name="Graphic 17415" descr="Mainten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400" y="5168900"/>
            <a:ext cx="266700" cy="266700"/>
          </a:xfrm>
          <a:prstGeom prst="rect">
            <a:avLst/>
          </a:prstGeom>
        </p:spPr>
      </p:pic>
      <p:pic>
        <p:nvPicPr>
          <p:cNvPr id="17416" name="Graphic 17416" descr="Noise suppres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35400" y="1714500"/>
            <a:ext cx="266700" cy="266700"/>
          </a:xfrm>
          <a:prstGeom prst="rect">
            <a:avLst/>
          </a:prstGeom>
        </p:spPr>
      </p:pic>
      <p:pic>
        <p:nvPicPr>
          <p:cNvPr id="17417" name="Graphic 17417" descr="Equalization netwo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35400" y="2578100"/>
            <a:ext cx="266700" cy="266700"/>
          </a:xfrm>
          <a:prstGeom prst="rect">
            <a:avLst/>
          </a:prstGeom>
        </p:spPr>
      </p:pic>
      <p:pic>
        <p:nvPicPr>
          <p:cNvPr id="17418" name="Graphic 17418" descr="MEMS sens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35400" y="3009900"/>
            <a:ext cx="266700" cy="266700"/>
          </a:xfrm>
          <a:prstGeom prst="rect">
            <a:avLst/>
          </a:prstGeom>
        </p:spPr>
      </p:pic>
      <p:pic>
        <p:nvPicPr>
          <p:cNvPr id="17419" name="Graphic 17419" descr="FFT classific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35400" y="4305300"/>
            <a:ext cx="266700" cy="266700"/>
          </a:xfrm>
          <a:prstGeom prst="rect">
            <a:avLst/>
          </a:prstGeom>
        </p:spPr>
      </p:pic>
      <p:pic>
        <p:nvPicPr>
          <p:cNvPr id="17420" name="Graphic 17420" descr="Modular cartrid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35400" y="5168900"/>
            <a:ext cx="266700" cy="266700"/>
          </a:xfrm>
          <a:prstGeom prst="rect">
            <a:avLst/>
          </a:prstGeom>
        </p:spPr>
      </p:pic>
      <p:pic>
        <p:nvPicPr>
          <p:cNvPr id="17421" name="Graphic 17421" descr="Innov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6600" y="5740400"/>
            <a:ext cx="304800" cy="304800"/>
          </a:xfrm>
          <a:prstGeom prst="rect">
            <a:avLst/>
          </a:prstGeom>
        </p:spPr>
      </p:pic>
      <p:pic>
        <p:nvPicPr>
          <p:cNvPr id="17422" name="Graphic 17422" descr="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65400" y="5676900"/>
            <a:ext cx="177800" cy="177800"/>
          </a:xfrm>
          <a:prstGeom prst="rect">
            <a:avLst/>
          </a:prstGeom>
        </p:spPr>
      </p:pic>
      <p:pic>
        <p:nvPicPr>
          <p:cNvPr id="17423" name="Graphic 17423" descr="Thermal chamb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35400" y="2146300"/>
            <a:ext cx="266700" cy="266700"/>
          </a:xfrm>
          <a:prstGeom prst="rect">
            <a:avLst/>
          </a:prstGeom>
        </p:spPr>
      </p:pic>
      <p:pic>
        <p:nvPicPr>
          <p:cNvPr id="17424" name="Graphic 17424" descr="Event identific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87400" y="4305300"/>
            <a:ext cx="266700" cy="266700"/>
          </a:xfrm>
          <a:prstGeom prst="rect">
            <a:avLst/>
          </a:prstGeom>
        </p:spPr>
      </p:pic>
      <p:pic>
        <p:nvPicPr>
          <p:cNvPr id="3200" name="Check 3201" descr="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38800" y="5676900"/>
            <a:ext cx="177800" cy="177800"/>
          </a:xfrm>
          <a:prstGeom prst="rect">
            <a:avLst/>
          </a:prstGeom>
        </p:spPr>
      </p:pic>
      <p:pic>
        <p:nvPicPr>
          <p:cNvPr id="3201" name="Check 3202" descr="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65400" y="5930900"/>
            <a:ext cx="177800" cy="177800"/>
          </a:xfrm>
          <a:prstGeom prst="rect">
            <a:avLst/>
          </a:prstGeom>
        </p:spPr>
      </p:pic>
      <p:pic>
        <p:nvPicPr>
          <p:cNvPr id="3202" name="Check 3203" descr="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38800" y="5930900"/>
            <a:ext cx="177800" cy="177800"/>
          </a:xfrm>
          <a:prstGeom prst="rect">
            <a:avLst/>
          </a:prstGeom>
        </p:spPr>
      </p:pic>
      <p:sp>
        <p:nvSpPr>
          <p:cNvPr id="3013" name="Text 3013"/>
          <p:cNvSpPr txBox="1"/>
          <p:nvPr/>
        </p:nvSpPr>
        <p:spPr>
          <a:xfrm>
            <a:off x="4241800" y="1651000"/>
            <a:ext cx="42418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dirty="0">
                <a:solidFill>
                  <a:srgbClr val="1F3864"/>
                </a:solidFill>
              </a:rPr>
              <a:t>Multi-stage Passive Wind Suppression</a:t>
            </a:r>
          </a:p>
        </p:txBody>
      </p:sp>
      <p:sp>
        <p:nvSpPr>
          <p:cNvPr id="3022" name="Text 3022"/>
          <p:cNvSpPr txBox="1"/>
          <p:nvPr/>
        </p:nvSpPr>
        <p:spPr>
          <a:xfrm>
            <a:off x="4241800" y="2082800"/>
            <a:ext cx="42418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dirty="0">
                <a:solidFill>
                  <a:srgbClr val="1F3864"/>
                </a:solidFill>
              </a:rPr>
              <a:t>Underground Environmental Enclosure + Temperature Compensation (Planned)</a:t>
            </a:r>
          </a:p>
        </p:txBody>
      </p:sp>
      <p:sp>
        <p:nvSpPr>
          <p:cNvPr id="3031" name="Text 3031"/>
          <p:cNvSpPr txBox="1"/>
          <p:nvPr/>
        </p:nvSpPr>
        <p:spPr>
          <a:xfrm>
            <a:off x="4241800" y="2514600"/>
            <a:ext cx="42418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dirty="0">
                <a:solidFill>
                  <a:srgbClr val="1F3864"/>
                </a:solidFill>
              </a:rPr>
              <a:t>Differential Pressure Equalization Network</a:t>
            </a:r>
          </a:p>
        </p:txBody>
      </p:sp>
      <p:sp>
        <p:nvSpPr>
          <p:cNvPr id="3040" name="Text 3040"/>
          <p:cNvSpPr txBox="1"/>
          <p:nvPr/>
        </p:nvSpPr>
        <p:spPr>
          <a:xfrm>
            <a:off x="4241800" y="2946400"/>
            <a:ext cx="42418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dirty="0">
                <a:solidFill>
                  <a:srgbClr val="1F3864"/>
                </a:solidFill>
              </a:rPr>
              <a:t>MEMS Capacitive Sensor + Low Noise Amplifier</a:t>
            </a:r>
          </a:p>
        </p:txBody>
      </p:sp>
      <p:sp>
        <p:nvSpPr>
          <p:cNvPr id="3414" name="Row8 3414"/>
          <p:cNvSpPr txBox="1"/>
          <p:nvPr/>
        </p:nvSpPr>
        <p:spPr>
          <a:xfrm>
            <a:off x="4241800" y="4673600"/>
            <a:ext cx="42418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dirty="0">
                <a:solidFill>
                  <a:srgbClr val="1F3864"/>
                </a:solidFill>
              </a:rPr>
              <a:t>Reference Calibration using Pressure Testing</a:t>
            </a:r>
          </a:p>
        </p:txBody>
      </p:sp>
      <p:sp>
        <p:nvSpPr>
          <p:cNvPr id="3409" name="Row6 3409"/>
          <p:cNvSpPr txBox="1"/>
          <p:nvPr/>
        </p:nvSpPr>
        <p:spPr>
          <a:xfrm>
            <a:off x="4241800" y="3810000"/>
            <a:ext cx="42418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dirty="0">
                <a:solidFill>
                  <a:srgbClr val="1F3864"/>
                </a:solidFill>
              </a:rPr>
              <a:t>Long-Period Pressure Equalization Network</a:t>
            </a:r>
          </a:p>
        </p:txBody>
      </p:sp>
      <p:sp>
        <p:nvSpPr>
          <p:cNvPr id="3404" name="Row5 3404"/>
          <p:cNvSpPr txBox="1"/>
          <p:nvPr/>
        </p:nvSpPr>
        <p:spPr>
          <a:xfrm>
            <a:off x="4241800" y="3378200"/>
            <a:ext cx="42418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dirty="0">
                <a:solidFill>
                  <a:srgbClr val="1F3864"/>
                </a:solidFill>
              </a:rPr>
              <a:t>Low-Noise Analog Front-End + 24-bit ADC Digitizer</a:t>
            </a:r>
          </a:p>
        </p:txBody>
      </p:sp>
      <p:sp>
        <p:nvSpPr>
          <p:cNvPr id="3049" name="Text 3049"/>
          <p:cNvSpPr txBox="1"/>
          <p:nvPr/>
        </p:nvSpPr>
        <p:spPr>
          <a:xfrm>
            <a:off x="4241800" y="4241800"/>
            <a:ext cx="42418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dirty="0">
                <a:solidFill>
                  <a:srgbClr val="1F3864"/>
                </a:solidFill>
              </a:rPr>
              <a:t>FFT-Based Signal Analysis</a:t>
            </a:r>
          </a:p>
        </p:txBody>
      </p:sp>
      <p:sp>
        <p:nvSpPr>
          <p:cNvPr id="3058" name="Text 3058"/>
          <p:cNvSpPr txBox="1"/>
          <p:nvPr/>
        </p:nvSpPr>
        <p:spPr>
          <a:xfrm>
            <a:off x="4241800" y="5105400"/>
            <a:ext cx="4241800" cy="393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lang="en-US" sz="1350" dirty="0">
                <a:solidFill>
                  <a:srgbClr val="1F3864"/>
                </a:solidFill>
              </a:rPr>
              <a:t>Modular Cartridge Architecture</a:t>
            </a:r>
          </a:p>
        </p:txBody>
      </p:sp>
      <p:pic>
        <p:nvPicPr>
          <p:cNvPr id="17425" name="Graphic 17425" descr="Analog signal integr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87400" y="3441700"/>
            <a:ext cx="266700" cy="266700"/>
          </a:xfrm>
          <a:prstGeom prst="rect">
            <a:avLst/>
          </a:prstGeom>
        </p:spPr>
      </p:pic>
      <p:pic>
        <p:nvPicPr>
          <p:cNvPr id="17426" name="Graphic 17426" descr="Low-noise front end and digitiz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35400" y="3441700"/>
            <a:ext cx="266700" cy="266700"/>
          </a:xfrm>
          <a:prstGeom prst="rect">
            <a:avLst/>
          </a:prstGeom>
        </p:spPr>
      </p:pic>
      <p:pic>
        <p:nvPicPr>
          <p:cNvPr id="17427" name="Graphic 17427" descr="Long-term sta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87400" y="3873500"/>
            <a:ext cx="266700" cy="266700"/>
          </a:xfrm>
          <a:prstGeom prst="rect">
            <a:avLst/>
          </a:prstGeom>
        </p:spPr>
      </p:pic>
      <p:pic>
        <p:nvPicPr>
          <p:cNvPr id="17428" name="Graphic 17428" descr="Long-period equaliz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35400" y="3873500"/>
            <a:ext cx="266700" cy="266700"/>
          </a:xfrm>
          <a:prstGeom prst="rect">
            <a:avLst/>
          </a:prstGeom>
        </p:spPr>
      </p:pic>
      <p:pic>
        <p:nvPicPr>
          <p:cNvPr id="17429" name="Graphic 17429" descr="Calibration require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87400" y="4737100"/>
            <a:ext cx="266700" cy="266700"/>
          </a:xfrm>
          <a:prstGeom prst="rect">
            <a:avLst/>
          </a:prstGeom>
        </p:spPr>
      </p:pic>
      <p:pic>
        <p:nvPicPr>
          <p:cNvPr id="17430" name="Graphic 17430" descr="Reference calibr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835400" y="4737100"/>
            <a:ext cx="2667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37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861CC-4563-C25D-C739-BDF76D25C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1B49A4A-9AC1-D91C-04C4-23E6A22F7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0D214F98-26F1-A937-6550-1DFEF1081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F26C9-C8F5-7C2A-6DFE-B00462779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2301B3-884C-BA91-12B9-E966EA704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000" name="Header 4000"/>
          <p:cNvSpPr txBox="1"/>
          <p:nvPr/>
        </p:nvSpPr>
        <p:spPr>
          <a:xfrm>
            <a:off x="609600" y="1168400"/>
            <a:ext cx="406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en-US" sz="1400" b="1" cap="all" dirty="0">
                <a:solidFill>
                  <a:srgbClr val="1F3864"/>
                </a:solidFill>
              </a:rPr>
              <a:t>System Workflow</a:t>
            </a:r>
          </a:p>
        </p:txBody>
      </p:sp>
      <p:sp>
        <p:nvSpPr>
          <p:cNvPr id="4001" name="Legend key 4001"/>
          <p:cNvSpPr/>
          <p:nvPr/>
        </p:nvSpPr>
        <p:spPr>
          <a:xfrm>
            <a:off x="7112000" y="1244600"/>
            <a:ext cx="139700" cy="139700"/>
          </a:xfrm>
          <a:prstGeom prst="rect">
            <a:avLst/>
          </a:prstGeom>
          <a:solidFill>
            <a:srgbClr val="DEEBF7"/>
          </a:solidFill>
          <a:ln w="9525">
            <a:solidFill>
              <a:srgbClr val="0070C0"/>
            </a:solidFill>
          </a:ln>
        </p:spPr>
        <p:txBody>
          <a:bodyPr wrap="square" lIns="50800" tIns="25400" rIns="50800" bIns="25400" anchor="ctr">
            <a:noAutofit/>
          </a:bodyPr>
          <a:lstStyle/>
          <a:p>
            <a:endParaRPr lang="en-US" sz="1000" dirty="0"/>
          </a:p>
        </p:txBody>
      </p:sp>
      <p:sp>
        <p:nvSpPr>
          <p:cNvPr id="4002" name="Legend 4002"/>
          <p:cNvSpPr txBox="1"/>
          <p:nvPr/>
        </p:nvSpPr>
        <p:spPr>
          <a:xfrm>
            <a:off x="7302500" y="11938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dirty="0">
                <a:solidFill>
                  <a:srgbClr val="595959"/>
                </a:solidFill>
              </a:rPr>
              <a:t>Pneumatic front end</a:t>
            </a:r>
          </a:p>
        </p:txBody>
      </p:sp>
      <p:sp>
        <p:nvSpPr>
          <p:cNvPr id="4003" name="Legend key 4003"/>
          <p:cNvSpPr/>
          <p:nvPr/>
        </p:nvSpPr>
        <p:spPr>
          <a:xfrm>
            <a:off x="9042400" y="1244600"/>
            <a:ext cx="139700" cy="13970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</p:spPr>
        <p:txBody>
          <a:bodyPr wrap="square" lIns="50800" tIns="25400" rIns="50800" bIns="25400" anchor="ctr">
            <a:noAutofit/>
          </a:bodyPr>
          <a:lstStyle/>
          <a:p>
            <a:endParaRPr lang="en-US" sz="1000" dirty="0"/>
          </a:p>
        </p:txBody>
      </p:sp>
      <p:sp>
        <p:nvSpPr>
          <p:cNvPr id="4004" name="Legend 4004"/>
          <p:cNvSpPr txBox="1"/>
          <p:nvPr/>
        </p:nvSpPr>
        <p:spPr>
          <a:xfrm>
            <a:off x="9232900" y="11938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dirty="0">
                <a:solidFill>
                  <a:srgbClr val="595959"/>
                </a:solidFill>
              </a:rPr>
              <a:t>Electronics</a:t>
            </a:r>
          </a:p>
        </p:txBody>
      </p:sp>
      <p:sp>
        <p:nvSpPr>
          <p:cNvPr id="4005" name="Legend key 4005"/>
          <p:cNvSpPr/>
          <p:nvPr/>
        </p:nvSpPr>
        <p:spPr>
          <a:xfrm>
            <a:off x="10312400" y="1244600"/>
            <a:ext cx="139700" cy="139700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lIns="50800" tIns="25400" rIns="50800" bIns="25400" anchor="ctr">
            <a:noAutofit/>
          </a:bodyPr>
          <a:lstStyle/>
          <a:p>
            <a:endParaRPr lang="en-US" sz="1000" dirty="0"/>
          </a:p>
        </p:txBody>
      </p:sp>
      <p:sp>
        <p:nvSpPr>
          <p:cNvPr id="4006" name="Legend 4006"/>
          <p:cNvSpPr txBox="1"/>
          <p:nvPr/>
        </p:nvSpPr>
        <p:spPr>
          <a:xfrm>
            <a:off x="10502900" y="11938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dirty="0">
                <a:solidFill>
                  <a:srgbClr val="595959"/>
                </a:solidFill>
              </a:rPr>
              <a:t>Software</a:t>
            </a:r>
          </a:p>
        </p:txBody>
      </p:sp>
      <p:cxnSp>
        <p:nvCxnSpPr>
          <p:cNvPr id="4007" name="Connector 4007"/>
          <p:cNvCxnSpPr/>
          <p:nvPr/>
        </p:nvCxnSpPr>
        <p:spPr>
          <a:xfrm>
            <a:off x="609600" y="1498600"/>
            <a:ext cx="109728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4008" name="Block 4008"/>
          <p:cNvSpPr txBox="1"/>
          <p:nvPr/>
        </p:nvSpPr>
        <p:spPr>
          <a:xfrm>
            <a:off x="609600" y="1574800"/>
            <a:ext cx="1409700" cy="635000"/>
          </a:xfrm>
          <a:prstGeom prst="rect">
            <a:avLst/>
          </a:prstGeom>
          <a:solidFill>
            <a:srgbClr val="DEEBF7"/>
          </a:solidFill>
          <a:ln w="9525">
            <a:solidFill>
              <a:srgbClr val="0070C0"/>
            </a:solidFill>
          </a:ln>
        </p:spPr>
        <p:txBody>
          <a:bodyPr wrap="square" lIns="38100" tIns="25400" rIns="38100" bIns="254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F3864"/>
                </a:solidFill>
              </a:rPr>
              <a:t>Atmospheric Inlet</a:t>
            </a:r>
          </a:p>
        </p:txBody>
      </p:sp>
      <p:sp>
        <p:nvSpPr>
          <p:cNvPr id="4009" name="Step 4009"/>
          <p:cNvSpPr txBox="1"/>
          <p:nvPr/>
        </p:nvSpPr>
        <p:spPr>
          <a:xfrm>
            <a:off x="647700" y="16002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1" dirty="0">
                <a:solidFill>
                  <a:srgbClr val="1F3864"/>
                </a:solidFill>
              </a:rPr>
              <a:t>01</a:t>
            </a:r>
          </a:p>
        </p:txBody>
      </p:sp>
      <p:cxnSp>
        <p:nvCxnSpPr>
          <p:cNvPr id="4010" name="Connector 4010"/>
          <p:cNvCxnSpPr/>
          <p:nvPr/>
        </p:nvCxnSpPr>
        <p:spPr>
          <a:xfrm>
            <a:off x="2038350" y="1892300"/>
            <a:ext cx="146050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sm"/>
          </a:ln>
        </p:spPr>
      </p:cxnSp>
      <p:cxnSp>
        <p:nvCxnSpPr>
          <p:cNvPr id="4105" name="Connector 4105"/>
          <p:cNvCxnSpPr/>
          <p:nvPr/>
        </p:nvCxnSpPr>
        <p:spPr>
          <a:xfrm>
            <a:off x="10007600" y="1892300"/>
            <a:ext cx="146050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sm"/>
          </a:ln>
        </p:spPr>
      </p:cxnSp>
      <p:sp>
        <p:nvSpPr>
          <p:cNvPr id="4011" name="Block 4011"/>
          <p:cNvSpPr txBox="1"/>
          <p:nvPr/>
        </p:nvSpPr>
        <p:spPr>
          <a:xfrm>
            <a:off x="2203450" y="1574800"/>
            <a:ext cx="1409700" cy="635000"/>
          </a:xfrm>
          <a:prstGeom prst="rect">
            <a:avLst/>
          </a:prstGeom>
          <a:solidFill>
            <a:srgbClr val="DEEBF7"/>
          </a:solidFill>
          <a:ln w="9525">
            <a:solidFill>
              <a:srgbClr val="0070C0"/>
            </a:solidFill>
          </a:ln>
        </p:spPr>
        <p:txBody>
          <a:bodyPr wrap="square" lIns="38100" tIns="25400" rIns="38100" bIns="254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F3864"/>
                </a:solidFill>
              </a:rPr>
              <a:t>Wind Noise Reduction Array</a:t>
            </a:r>
          </a:p>
        </p:txBody>
      </p:sp>
      <p:sp>
        <p:nvSpPr>
          <p:cNvPr id="4103" name="Block Enclosure 4103"/>
          <p:cNvSpPr txBox="1"/>
          <p:nvPr/>
        </p:nvSpPr>
        <p:spPr>
          <a:xfrm>
            <a:off x="5391150" y="1574800"/>
            <a:ext cx="1409700" cy="635000"/>
          </a:xfrm>
          <a:prstGeom prst="rect">
            <a:avLst/>
          </a:prstGeom>
          <a:solidFill>
            <a:srgbClr val="C9DFF2"/>
          </a:solidFill>
          <a:ln w="22225">
            <a:solidFill>
              <a:srgbClr val="0070C0"/>
            </a:solidFill>
            <a:prstDash val="dash"/>
          </a:ln>
        </p:spPr>
        <p:txBody>
          <a:bodyPr wrap="square" lIns="38100" tIns="139700" rIns="38100" bIns="127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F3864"/>
                </a:solidFill>
              </a:rPr>
              <a:t>Underground Enclosure</a:t>
            </a:r>
          </a:p>
        </p:txBody>
      </p:sp>
      <p:sp>
        <p:nvSpPr>
          <p:cNvPr id="4101" name="Block 4101"/>
          <p:cNvSpPr txBox="1"/>
          <p:nvPr/>
        </p:nvSpPr>
        <p:spPr>
          <a:xfrm>
            <a:off x="3797300" y="1574800"/>
            <a:ext cx="1409700" cy="635000"/>
          </a:xfrm>
          <a:prstGeom prst="rect">
            <a:avLst/>
          </a:prstGeom>
          <a:solidFill>
            <a:srgbClr val="DEEBF7"/>
          </a:solidFill>
          <a:ln w="9525">
            <a:solidFill>
              <a:srgbClr val="0070C0"/>
            </a:solidFill>
          </a:ln>
        </p:spPr>
        <p:txBody>
          <a:bodyPr wrap="square" lIns="38100" tIns="25400" rIns="38100" bIns="254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F3864"/>
                </a:solidFill>
              </a:rPr>
              <a:t>Acoustic Tube</a:t>
            </a:r>
          </a:p>
        </p:txBody>
      </p:sp>
      <p:sp>
        <p:nvSpPr>
          <p:cNvPr id="4012" name="Step 4012"/>
          <p:cNvSpPr txBox="1"/>
          <p:nvPr/>
        </p:nvSpPr>
        <p:spPr>
          <a:xfrm>
            <a:off x="2241550" y="16002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1" dirty="0">
                <a:solidFill>
                  <a:srgbClr val="1F3864"/>
                </a:solidFill>
              </a:rPr>
              <a:t>02</a:t>
            </a:r>
          </a:p>
        </p:txBody>
      </p:sp>
      <p:sp>
        <p:nvSpPr>
          <p:cNvPr id="4104" name="Step 4104"/>
          <p:cNvSpPr txBox="1"/>
          <p:nvPr/>
        </p:nvSpPr>
        <p:spPr>
          <a:xfrm>
            <a:off x="5429250" y="16002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1" dirty="0">
                <a:solidFill>
                  <a:srgbClr val="1F3864"/>
                </a:solidFill>
              </a:rPr>
              <a:t>04</a:t>
            </a:r>
          </a:p>
        </p:txBody>
      </p:sp>
      <p:sp>
        <p:nvSpPr>
          <p:cNvPr id="4102" name="Step 4102"/>
          <p:cNvSpPr txBox="1"/>
          <p:nvPr/>
        </p:nvSpPr>
        <p:spPr>
          <a:xfrm>
            <a:off x="3835400" y="16002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1" dirty="0">
                <a:solidFill>
                  <a:srgbClr val="1F3864"/>
                </a:solidFill>
              </a:rPr>
              <a:t>03</a:t>
            </a:r>
          </a:p>
        </p:txBody>
      </p:sp>
      <p:cxnSp>
        <p:nvCxnSpPr>
          <p:cNvPr id="4013" name="Connector 4013"/>
          <p:cNvCxnSpPr/>
          <p:nvPr/>
        </p:nvCxnSpPr>
        <p:spPr>
          <a:xfrm>
            <a:off x="3632200" y="1892300"/>
            <a:ext cx="146050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sm"/>
          </a:ln>
        </p:spPr>
      </p:cxnSp>
      <p:sp>
        <p:nvSpPr>
          <p:cNvPr id="4014" name="Block 4014"/>
          <p:cNvSpPr txBox="1"/>
          <p:nvPr/>
        </p:nvSpPr>
        <p:spPr>
          <a:xfrm>
            <a:off x="6985000" y="1574800"/>
            <a:ext cx="1409700" cy="635000"/>
          </a:xfrm>
          <a:prstGeom prst="rect">
            <a:avLst/>
          </a:prstGeom>
          <a:solidFill>
            <a:srgbClr val="DEEBF7"/>
          </a:solidFill>
          <a:ln w="9525">
            <a:solidFill>
              <a:srgbClr val="0070C0"/>
            </a:solidFill>
          </a:ln>
        </p:spPr>
        <p:txBody>
          <a:bodyPr wrap="square" lIns="38100" tIns="25400" rIns="38100" bIns="254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F3864"/>
                </a:solidFill>
              </a:rPr>
              <a:t>Differential Pressure Chamber</a:t>
            </a:r>
          </a:p>
        </p:txBody>
      </p:sp>
      <p:sp>
        <p:nvSpPr>
          <p:cNvPr id="4015" name="Step 4015"/>
          <p:cNvSpPr txBox="1"/>
          <p:nvPr/>
        </p:nvSpPr>
        <p:spPr>
          <a:xfrm>
            <a:off x="7023100" y="16002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1" dirty="0">
                <a:solidFill>
                  <a:srgbClr val="1F3864"/>
                </a:solidFill>
              </a:rPr>
              <a:t>05</a:t>
            </a:r>
          </a:p>
        </p:txBody>
      </p:sp>
      <p:cxnSp>
        <p:nvCxnSpPr>
          <p:cNvPr id="4016" name="Connector 4016"/>
          <p:cNvCxnSpPr/>
          <p:nvPr/>
        </p:nvCxnSpPr>
        <p:spPr>
          <a:xfrm>
            <a:off x="5226050" y="1892300"/>
            <a:ext cx="146050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sm"/>
          </a:ln>
        </p:spPr>
      </p:cxnSp>
      <p:sp>
        <p:nvSpPr>
          <p:cNvPr id="4017" name="Block 4017"/>
          <p:cNvSpPr txBox="1"/>
          <p:nvPr/>
        </p:nvSpPr>
        <p:spPr>
          <a:xfrm>
            <a:off x="8578850" y="1574800"/>
            <a:ext cx="1409700" cy="635000"/>
          </a:xfrm>
          <a:prstGeom prst="rect">
            <a:avLst/>
          </a:prstGeom>
          <a:solidFill>
            <a:srgbClr val="DEEBF7"/>
          </a:solidFill>
          <a:ln w="9525">
            <a:solidFill>
              <a:srgbClr val="0070C0"/>
            </a:solidFill>
          </a:ln>
        </p:spPr>
        <p:txBody>
          <a:bodyPr wrap="square" lIns="38100" tIns="25400" rIns="38100" bIns="2540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1F3864"/>
                </a:solidFill>
              </a:rPr>
              <a:t>Long-Period Pressure Equalization Network</a:t>
            </a:r>
          </a:p>
        </p:txBody>
      </p:sp>
      <p:sp>
        <p:nvSpPr>
          <p:cNvPr id="4018" name="Step 4018"/>
          <p:cNvSpPr txBox="1"/>
          <p:nvPr/>
        </p:nvSpPr>
        <p:spPr>
          <a:xfrm>
            <a:off x="8616950" y="16002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1" dirty="0">
                <a:solidFill>
                  <a:srgbClr val="1F3864"/>
                </a:solidFill>
              </a:rPr>
              <a:t>06</a:t>
            </a:r>
          </a:p>
        </p:txBody>
      </p:sp>
      <p:cxnSp>
        <p:nvCxnSpPr>
          <p:cNvPr id="4019" name="Connector 4019"/>
          <p:cNvCxnSpPr/>
          <p:nvPr/>
        </p:nvCxnSpPr>
        <p:spPr>
          <a:xfrm>
            <a:off x="6819900" y="1892300"/>
            <a:ext cx="146050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sm"/>
          </a:ln>
        </p:spPr>
      </p:cxnSp>
      <p:sp>
        <p:nvSpPr>
          <p:cNvPr id="4020" name="Block 4020"/>
          <p:cNvSpPr txBox="1"/>
          <p:nvPr/>
        </p:nvSpPr>
        <p:spPr>
          <a:xfrm>
            <a:off x="10172700" y="1574800"/>
            <a:ext cx="1409700" cy="63500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</p:spPr>
        <p:txBody>
          <a:bodyPr wrap="square" lIns="38100" tIns="25400" rIns="38100" bIns="254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MEMS Capacitive Pressure Sensor</a:t>
            </a:r>
          </a:p>
        </p:txBody>
      </p:sp>
      <p:sp>
        <p:nvSpPr>
          <p:cNvPr id="4021" name="Step 4021"/>
          <p:cNvSpPr txBox="1"/>
          <p:nvPr/>
        </p:nvSpPr>
        <p:spPr>
          <a:xfrm>
            <a:off x="10210800" y="16002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07</a:t>
            </a:r>
          </a:p>
        </p:txBody>
      </p:sp>
      <p:cxnSp>
        <p:nvCxnSpPr>
          <p:cNvPr id="4022" name="Connector 4022"/>
          <p:cNvCxnSpPr/>
          <p:nvPr/>
        </p:nvCxnSpPr>
        <p:spPr>
          <a:xfrm>
            <a:off x="8413750" y="1892300"/>
            <a:ext cx="146050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sm"/>
          </a:ln>
        </p:spPr>
      </p:cxnSp>
      <p:sp>
        <p:nvSpPr>
          <p:cNvPr id="4023" name="Block 4023"/>
          <p:cNvSpPr txBox="1"/>
          <p:nvPr/>
        </p:nvSpPr>
        <p:spPr>
          <a:xfrm>
            <a:off x="609600" y="2565400"/>
            <a:ext cx="1409700" cy="63500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</p:spPr>
        <p:txBody>
          <a:bodyPr wrap="square" lIns="38100" tIns="25400" rIns="38100" bIns="254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Low Noise Amplifier</a:t>
            </a:r>
          </a:p>
        </p:txBody>
      </p:sp>
      <p:sp>
        <p:nvSpPr>
          <p:cNvPr id="4024" name="Step 4024"/>
          <p:cNvSpPr txBox="1"/>
          <p:nvPr/>
        </p:nvSpPr>
        <p:spPr>
          <a:xfrm>
            <a:off x="647700" y="25908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025" name="Return path 4025"/>
          <p:cNvSpPr/>
          <p:nvPr/>
        </p:nvSpPr>
        <p:spPr>
          <a:xfrm>
            <a:off x="1314450" y="2209800"/>
            <a:ext cx="9563100" cy="355600"/>
          </a:xfrm>
          <a:custGeom>
            <a:avLst/>
            <a:gdLst/>
            <a:ahLst/>
            <a:cxnLst/>
            <a:rect l="0" t="0" r="r" b="b"/>
            <a:pathLst>
              <a:path w="9563100" h="355600" fill="none">
                <a:moveTo>
                  <a:pt x="9563100" y="0"/>
                </a:moveTo>
                <a:lnTo>
                  <a:pt x="9563100" y="177800"/>
                </a:lnTo>
                <a:lnTo>
                  <a:pt x="0" y="177800"/>
                </a:lnTo>
                <a:lnTo>
                  <a:pt x="0" y="355600"/>
                </a:lnTo>
              </a:path>
            </a:pathLst>
          </a:custGeom>
          <a:noFill/>
          <a:ln w="15875">
            <a:solidFill>
              <a:srgbClr val="595959"/>
            </a:solidFill>
            <a:tailEnd type="triangle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4026" name="Block 4026"/>
          <p:cNvSpPr txBox="1"/>
          <p:nvPr/>
        </p:nvSpPr>
        <p:spPr>
          <a:xfrm>
            <a:off x="2203450" y="2565400"/>
            <a:ext cx="1409700" cy="63500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</p:spPr>
        <p:txBody>
          <a:bodyPr wrap="square" lIns="38100" tIns="25400" rIns="38100" bIns="254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24-bit ADC Digitizer</a:t>
            </a:r>
          </a:p>
        </p:txBody>
      </p:sp>
      <p:sp>
        <p:nvSpPr>
          <p:cNvPr id="4027" name="Step 4027"/>
          <p:cNvSpPr txBox="1"/>
          <p:nvPr/>
        </p:nvSpPr>
        <p:spPr>
          <a:xfrm>
            <a:off x="2241550" y="25908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09</a:t>
            </a:r>
          </a:p>
        </p:txBody>
      </p:sp>
      <p:cxnSp>
        <p:nvCxnSpPr>
          <p:cNvPr id="4028" name="Connector 4028"/>
          <p:cNvCxnSpPr/>
          <p:nvPr/>
        </p:nvCxnSpPr>
        <p:spPr>
          <a:xfrm>
            <a:off x="2038350" y="2882900"/>
            <a:ext cx="146050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sm"/>
          </a:ln>
        </p:spPr>
      </p:cxnSp>
      <p:cxnSp>
        <p:nvCxnSpPr>
          <p:cNvPr id="4106" name="Connector 4106"/>
          <p:cNvCxnSpPr/>
          <p:nvPr/>
        </p:nvCxnSpPr>
        <p:spPr>
          <a:xfrm>
            <a:off x="10007600" y="2882900"/>
            <a:ext cx="146050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sm"/>
          </a:ln>
        </p:spPr>
      </p:cxnSp>
      <p:sp>
        <p:nvSpPr>
          <p:cNvPr id="4029" name="Block 4029"/>
          <p:cNvSpPr txBox="1"/>
          <p:nvPr/>
        </p:nvSpPr>
        <p:spPr>
          <a:xfrm>
            <a:off x="3797300" y="2565400"/>
            <a:ext cx="1409700" cy="63500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</p:spPr>
        <p:txBody>
          <a:bodyPr wrap="square" lIns="38100" tIns="25400" rIns="38100" bIns="254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STM32 Controller</a:t>
            </a:r>
          </a:p>
        </p:txBody>
      </p:sp>
      <p:sp>
        <p:nvSpPr>
          <p:cNvPr id="4030" name="Step 4030"/>
          <p:cNvSpPr txBox="1"/>
          <p:nvPr/>
        </p:nvSpPr>
        <p:spPr>
          <a:xfrm>
            <a:off x="3835400" y="25908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10</a:t>
            </a:r>
          </a:p>
        </p:txBody>
      </p:sp>
      <p:cxnSp>
        <p:nvCxnSpPr>
          <p:cNvPr id="4031" name="Connector 4031"/>
          <p:cNvCxnSpPr/>
          <p:nvPr/>
        </p:nvCxnSpPr>
        <p:spPr>
          <a:xfrm>
            <a:off x="3632200" y="2882900"/>
            <a:ext cx="146050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sm"/>
          </a:ln>
        </p:spPr>
      </p:cxnSp>
      <p:sp>
        <p:nvSpPr>
          <p:cNvPr id="4032" name="Block 4032"/>
          <p:cNvSpPr txBox="1"/>
          <p:nvPr/>
        </p:nvSpPr>
        <p:spPr>
          <a:xfrm>
            <a:off x="5391150" y="2565400"/>
            <a:ext cx="1409700" cy="635000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lIns="38100" tIns="25400" rIns="38100" bIns="254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Filtering &amp; FFT Analysis</a:t>
            </a:r>
          </a:p>
        </p:txBody>
      </p:sp>
      <p:sp>
        <p:nvSpPr>
          <p:cNvPr id="4033" name="Step 4033"/>
          <p:cNvSpPr txBox="1"/>
          <p:nvPr/>
        </p:nvSpPr>
        <p:spPr>
          <a:xfrm>
            <a:off x="5429250" y="25908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11</a:t>
            </a:r>
          </a:p>
        </p:txBody>
      </p:sp>
      <p:cxnSp>
        <p:nvCxnSpPr>
          <p:cNvPr id="4034" name="Connector 4034"/>
          <p:cNvCxnSpPr/>
          <p:nvPr/>
        </p:nvCxnSpPr>
        <p:spPr>
          <a:xfrm>
            <a:off x="5226050" y="2882900"/>
            <a:ext cx="146050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sm"/>
          </a:ln>
        </p:spPr>
      </p:cxnSp>
      <p:sp>
        <p:nvSpPr>
          <p:cNvPr id="4035" name="Block 4035"/>
          <p:cNvSpPr txBox="1"/>
          <p:nvPr/>
        </p:nvSpPr>
        <p:spPr>
          <a:xfrm>
            <a:off x="6985000" y="2565400"/>
            <a:ext cx="1409700" cy="635000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lIns="38100" tIns="25400" rIns="38100" bIns="254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STA/LTA Event Detection</a:t>
            </a:r>
          </a:p>
        </p:txBody>
      </p:sp>
      <p:sp>
        <p:nvSpPr>
          <p:cNvPr id="4107" name="Block 4107"/>
          <p:cNvSpPr txBox="1"/>
          <p:nvPr/>
        </p:nvSpPr>
        <p:spPr>
          <a:xfrm>
            <a:off x="8578850" y="2565400"/>
            <a:ext cx="1409700" cy="635000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lIns="38100" tIns="25400" rIns="38100" bIns="254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Event Storage &amp; Alerts</a:t>
            </a:r>
          </a:p>
        </p:txBody>
      </p:sp>
      <p:sp>
        <p:nvSpPr>
          <p:cNvPr id="4036" name="Step 4036"/>
          <p:cNvSpPr txBox="1"/>
          <p:nvPr/>
        </p:nvSpPr>
        <p:spPr>
          <a:xfrm>
            <a:off x="7023100" y="25908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108" name="Step 4108"/>
          <p:cNvSpPr txBox="1"/>
          <p:nvPr/>
        </p:nvSpPr>
        <p:spPr>
          <a:xfrm>
            <a:off x="8616950" y="25908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13</a:t>
            </a:r>
          </a:p>
        </p:txBody>
      </p:sp>
      <p:cxnSp>
        <p:nvCxnSpPr>
          <p:cNvPr id="4037" name="Connector 4037"/>
          <p:cNvCxnSpPr/>
          <p:nvPr/>
        </p:nvCxnSpPr>
        <p:spPr>
          <a:xfrm>
            <a:off x="6819900" y="2882900"/>
            <a:ext cx="146050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sm"/>
          </a:ln>
        </p:spPr>
      </p:cxnSp>
      <p:cxnSp>
        <p:nvCxnSpPr>
          <p:cNvPr id="4109" name="Connector 4109"/>
          <p:cNvCxnSpPr/>
          <p:nvPr/>
        </p:nvCxnSpPr>
        <p:spPr>
          <a:xfrm>
            <a:off x="8413750" y="2882900"/>
            <a:ext cx="146050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sm"/>
          </a:ln>
        </p:spPr>
      </p:cxnSp>
      <p:sp>
        <p:nvSpPr>
          <p:cNvPr id="4038" name="Block 4038"/>
          <p:cNvSpPr txBox="1"/>
          <p:nvPr/>
        </p:nvSpPr>
        <p:spPr>
          <a:xfrm>
            <a:off x="10172700" y="2565400"/>
            <a:ext cx="1409700" cy="635000"/>
          </a:xfrm>
          <a:prstGeom prst="rect">
            <a:avLst/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lIns="38100" tIns="25400" rIns="38100" bIns="254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Real-Time Dashboard</a:t>
            </a:r>
          </a:p>
        </p:txBody>
      </p:sp>
      <p:sp>
        <p:nvSpPr>
          <p:cNvPr id="4039" name="Step 4039"/>
          <p:cNvSpPr txBox="1"/>
          <p:nvPr/>
        </p:nvSpPr>
        <p:spPr>
          <a:xfrm>
            <a:off x="10210800" y="25908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14</a:t>
            </a:r>
          </a:p>
        </p:txBody>
      </p:sp>
      <p:cxnSp>
        <p:nvCxnSpPr>
          <p:cNvPr id="4040" name="Connector 4040"/>
          <p:cNvCxnSpPr/>
          <p:nvPr/>
        </p:nvCxnSpPr>
        <p:spPr>
          <a:xfrm>
            <a:off x="10877550" y="3200400"/>
            <a:ext cx="0" cy="177800"/>
          </a:xfrm>
          <a:prstGeom prst="line">
            <a:avLst/>
          </a:prstGeom>
          <a:ln w="15875">
            <a:solidFill>
              <a:srgbClr val="595959"/>
            </a:solidFill>
            <a:tailEnd type="triangle" w="med" len="sm"/>
          </a:ln>
        </p:spPr>
      </p:cxnSp>
      <p:sp>
        <p:nvSpPr>
          <p:cNvPr id="4041" name="Panel 4041"/>
          <p:cNvSpPr/>
          <p:nvPr/>
        </p:nvSpPr>
        <p:spPr>
          <a:xfrm>
            <a:off x="609600" y="3378200"/>
            <a:ext cx="3708400" cy="27432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 wrap="square" lIns="50800" tIns="25400" rIns="50800" bIns="25400" anchor="ctr">
            <a:noAutofit/>
          </a:bodyPr>
          <a:lstStyle/>
          <a:p>
            <a:endParaRPr lang="en-US" sz="1000" dirty="0"/>
          </a:p>
        </p:txBody>
      </p:sp>
      <p:sp>
        <p:nvSpPr>
          <p:cNvPr id="4042" name="Accent 4042"/>
          <p:cNvSpPr/>
          <p:nvPr/>
        </p:nvSpPr>
        <p:spPr>
          <a:xfrm>
            <a:off x="609600" y="3378200"/>
            <a:ext cx="50800" cy="2743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50800" tIns="25400" rIns="50800" bIns="25400" anchor="ctr">
            <a:noAutofit/>
          </a:bodyPr>
          <a:lstStyle/>
          <a:p>
            <a:endParaRPr lang="en-US" sz="1000" dirty="0"/>
          </a:p>
        </p:txBody>
      </p:sp>
      <p:sp>
        <p:nvSpPr>
          <p:cNvPr id="4043" name="Panel title 4043"/>
          <p:cNvSpPr txBox="1"/>
          <p:nvPr/>
        </p:nvSpPr>
        <p:spPr>
          <a:xfrm>
            <a:off x="812800" y="34544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cap="all" dirty="0">
                <a:solidFill>
                  <a:srgbClr val="1F3864"/>
                </a:solidFill>
              </a:rPr>
              <a:t>Hardware</a:t>
            </a:r>
          </a:p>
        </p:txBody>
      </p:sp>
      <p:cxnSp>
        <p:nvCxnSpPr>
          <p:cNvPr id="4044" name="Connector 4044"/>
          <p:cNvCxnSpPr/>
          <p:nvPr/>
        </p:nvCxnSpPr>
        <p:spPr>
          <a:xfrm>
            <a:off x="812800" y="3784600"/>
            <a:ext cx="33528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4045" name="List 4045"/>
          <p:cNvSpPr txBox="1"/>
          <p:nvPr/>
        </p:nvSpPr>
        <p:spPr>
          <a:xfrm>
            <a:off x="812800" y="3886200"/>
            <a:ext cx="3352800" cy="218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>
              <a:lnSpc>
                <a:spcPct val="100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450" dirty="0">
                <a:solidFill>
                  <a:srgbClr val="262626"/>
                </a:solidFill>
              </a:rPr>
              <a:t>MEMS Capacitive Pressure Sensor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450" dirty="0">
                <a:solidFill>
                  <a:srgbClr val="262626"/>
                </a:solidFill>
              </a:rPr>
              <a:t>MEMS Diaphragm-Based Mechanical Transducer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450" dirty="0">
                <a:solidFill>
                  <a:srgbClr val="262626"/>
                </a:solidFill>
              </a:rPr>
              <a:t>Differential Pressure Chamber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450" dirty="0">
                <a:solidFill>
                  <a:srgbClr val="262626"/>
                </a:solidFill>
              </a:rPr>
              <a:t>Pressure Equalization Network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450" dirty="0">
                <a:solidFill>
                  <a:srgbClr val="262626"/>
                </a:solidFill>
              </a:rPr>
              <a:t>Wind Noise Reduction Module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450" dirty="0">
                <a:solidFill>
                  <a:srgbClr val="262626"/>
                </a:solidFill>
              </a:rPr>
              <a:t>STM32 + 24-bit ADC Digitizer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450" dirty="0">
                <a:solidFill>
                  <a:srgbClr val="262626"/>
                </a:solidFill>
              </a:rPr>
              <a:t>WiFi Telemetry</a:t>
            </a:r>
          </a:p>
        </p:txBody>
      </p:sp>
      <p:sp>
        <p:nvSpPr>
          <p:cNvPr id="4046" name="Panel 4046"/>
          <p:cNvSpPr/>
          <p:nvPr/>
        </p:nvSpPr>
        <p:spPr>
          <a:xfrm>
            <a:off x="4521200" y="3378200"/>
            <a:ext cx="3708400" cy="27432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 wrap="square" lIns="50800" tIns="25400" rIns="50800" bIns="25400" anchor="ctr">
            <a:noAutofit/>
          </a:bodyPr>
          <a:lstStyle/>
          <a:p>
            <a:endParaRPr lang="en-US" sz="1000" dirty="0"/>
          </a:p>
        </p:txBody>
      </p:sp>
      <p:sp>
        <p:nvSpPr>
          <p:cNvPr id="4047" name="Accent 4047"/>
          <p:cNvSpPr/>
          <p:nvPr/>
        </p:nvSpPr>
        <p:spPr>
          <a:xfrm>
            <a:off x="4521200" y="3378200"/>
            <a:ext cx="50800" cy="2743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50800" tIns="25400" rIns="50800" bIns="25400" anchor="ctr">
            <a:noAutofit/>
          </a:bodyPr>
          <a:lstStyle/>
          <a:p>
            <a:endParaRPr lang="en-US" sz="1000" dirty="0"/>
          </a:p>
        </p:txBody>
      </p:sp>
      <p:sp>
        <p:nvSpPr>
          <p:cNvPr id="4048" name="Panel title 4048"/>
          <p:cNvSpPr txBox="1"/>
          <p:nvPr/>
        </p:nvSpPr>
        <p:spPr>
          <a:xfrm>
            <a:off x="4724400" y="34544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cap="all" dirty="0">
                <a:solidFill>
                  <a:srgbClr val="0070C0"/>
                </a:solidFill>
              </a:rPr>
              <a:t>Software</a:t>
            </a:r>
          </a:p>
        </p:txBody>
      </p:sp>
      <p:cxnSp>
        <p:nvCxnSpPr>
          <p:cNvPr id="4049" name="Connector 4049"/>
          <p:cNvCxnSpPr/>
          <p:nvPr/>
        </p:nvCxnSpPr>
        <p:spPr>
          <a:xfrm>
            <a:off x="4724400" y="3784600"/>
            <a:ext cx="33528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4050" name="List 4050"/>
          <p:cNvSpPr txBox="1"/>
          <p:nvPr/>
        </p:nvSpPr>
        <p:spPr>
          <a:xfrm>
            <a:off x="4724400" y="3886200"/>
            <a:ext cx="3352800" cy="218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>
              <a:lnSpc>
                <a:spcPct val="100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450" dirty="0">
                <a:solidFill>
                  <a:srgbClr val="262626"/>
                </a:solidFill>
              </a:rPr>
              <a:t>Embedded C on STM32 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450" dirty="0">
                <a:solidFill>
                  <a:srgbClr val="262626"/>
                </a:solidFill>
              </a:rPr>
              <a:t>Butterworth IIR filtering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450" dirty="0">
                <a:solidFill>
                  <a:srgbClr val="262626"/>
                </a:solidFill>
              </a:rPr>
              <a:t>Temperature Compensation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450" dirty="0">
                <a:solidFill>
                  <a:srgbClr val="262626"/>
                </a:solidFill>
              </a:rPr>
              <a:t>Radix-2 FFT, Welch PSD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450" dirty="0">
                <a:solidFill>
                  <a:srgbClr val="262626"/>
                </a:solidFill>
              </a:rPr>
              <a:t>STA/LTA event detection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450" dirty="0">
                <a:solidFill>
                  <a:srgbClr val="262626"/>
                </a:solidFill>
              </a:rPr>
              <a:t>MQTT telemetry 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450" dirty="0">
                <a:solidFill>
                  <a:srgbClr val="262626"/>
                </a:solidFill>
              </a:rPr>
              <a:t>Next.js + React (TypeScript)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450" dirty="0">
                <a:solidFill>
                  <a:srgbClr val="262626"/>
                </a:solidFill>
              </a:rPr>
              <a:t>HTML5 Canvas live charts</a:t>
            </a:r>
          </a:p>
        </p:txBody>
      </p:sp>
      <p:sp>
        <p:nvSpPr>
          <p:cNvPr id="4051" name="Panel 4051"/>
          <p:cNvSpPr/>
          <p:nvPr/>
        </p:nvSpPr>
        <p:spPr>
          <a:xfrm>
            <a:off x="8432800" y="3378200"/>
            <a:ext cx="3149600" cy="27432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 wrap="square" lIns="50800" tIns="25400" rIns="50800" bIns="25400" anchor="ctr">
            <a:noAutofit/>
          </a:bodyPr>
          <a:lstStyle/>
          <a:p>
            <a:endParaRPr lang="en-US" sz="1000" dirty="0"/>
          </a:p>
        </p:txBody>
      </p:sp>
      <p:sp>
        <p:nvSpPr>
          <p:cNvPr id="4052" name="Accent 4052"/>
          <p:cNvSpPr/>
          <p:nvPr/>
        </p:nvSpPr>
        <p:spPr>
          <a:xfrm>
            <a:off x="8432800" y="3378200"/>
            <a:ext cx="50800" cy="2743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50800" tIns="25400" rIns="50800" bIns="25400" anchor="ctr">
            <a:noAutofit/>
          </a:bodyPr>
          <a:lstStyle/>
          <a:p>
            <a:endParaRPr lang="en-US" sz="1000" dirty="0"/>
          </a:p>
        </p:txBody>
      </p:sp>
      <p:sp>
        <p:nvSpPr>
          <p:cNvPr id="4053" name="Panel title 4053"/>
          <p:cNvSpPr txBox="1"/>
          <p:nvPr/>
        </p:nvSpPr>
        <p:spPr>
          <a:xfrm>
            <a:off x="8636000" y="34544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cap="all" dirty="0">
                <a:solidFill>
                  <a:srgbClr val="0070C0"/>
                </a:solidFill>
              </a:rPr>
              <a:t>Target Event Types</a:t>
            </a:r>
          </a:p>
        </p:txBody>
      </p:sp>
      <p:cxnSp>
        <p:nvCxnSpPr>
          <p:cNvPr id="4054" name="Connector 4054"/>
          <p:cNvCxnSpPr/>
          <p:nvPr/>
        </p:nvCxnSpPr>
        <p:spPr>
          <a:xfrm>
            <a:off x="8636000" y="3784600"/>
            <a:ext cx="27940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4055" name="Output chip 4055"/>
          <p:cNvSpPr txBox="1"/>
          <p:nvPr/>
        </p:nvSpPr>
        <p:spPr>
          <a:xfrm>
            <a:off x="8636000" y="3911600"/>
            <a:ext cx="2794000" cy="469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58800" tIns="0" rIns="10160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262626"/>
                </a:solidFill>
              </a:rPr>
              <a:t>Explosion</a:t>
            </a:r>
          </a:p>
        </p:txBody>
      </p:sp>
      <p:sp>
        <p:nvSpPr>
          <p:cNvPr id="4056" name="Output chip 4056"/>
          <p:cNvSpPr txBox="1"/>
          <p:nvPr/>
        </p:nvSpPr>
        <p:spPr>
          <a:xfrm>
            <a:off x="8636000" y="4457700"/>
            <a:ext cx="2794000" cy="469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58800" tIns="0" rIns="10160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262626"/>
                </a:solidFill>
              </a:rPr>
              <a:t>Rocket Launch</a:t>
            </a:r>
          </a:p>
        </p:txBody>
      </p:sp>
      <p:sp>
        <p:nvSpPr>
          <p:cNvPr id="4057" name="Output chip 4057"/>
          <p:cNvSpPr txBox="1"/>
          <p:nvPr/>
        </p:nvSpPr>
        <p:spPr>
          <a:xfrm>
            <a:off x="8636000" y="5003800"/>
            <a:ext cx="2794000" cy="469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58800" tIns="0" rIns="10160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262626"/>
                </a:solidFill>
              </a:rPr>
              <a:t>Thunderstorm</a:t>
            </a:r>
          </a:p>
        </p:txBody>
      </p:sp>
      <p:sp>
        <p:nvSpPr>
          <p:cNvPr id="4058" name="Output chip 4058"/>
          <p:cNvSpPr txBox="1"/>
          <p:nvPr/>
        </p:nvSpPr>
        <p:spPr>
          <a:xfrm>
            <a:off x="8636000" y="5549900"/>
            <a:ext cx="2794000" cy="469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58800" tIns="0" rIns="10160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262626"/>
                </a:solidFill>
              </a:rPr>
              <a:t>Ambient Noise</a:t>
            </a:r>
          </a:p>
        </p:txBody>
      </p:sp>
      <p:pic>
        <p:nvPicPr>
          <p:cNvPr id="17410" name="Graphic 17410" descr="Explo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400" y="4013200"/>
            <a:ext cx="279400" cy="279400"/>
          </a:xfrm>
          <a:prstGeom prst="rect">
            <a:avLst/>
          </a:prstGeom>
        </p:spPr>
      </p:pic>
      <p:pic>
        <p:nvPicPr>
          <p:cNvPr id="17411" name="Graphic 17411" descr="Rocket laun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400" y="4559300"/>
            <a:ext cx="279400" cy="279400"/>
          </a:xfrm>
          <a:prstGeom prst="rect">
            <a:avLst/>
          </a:prstGeom>
        </p:spPr>
      </p:pic>
      <p:pic>
        <p:nvPicPr>
          <p:cNvPr id="17412" name="Graphic 17412" descr="Thunderstor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400" y="5105400"/>
            <a:ext cx="279400" cy="279400"/>
          </a:xfrm>
          <a:prstGeom prst="rect">
            <a:avLst/>
          </a:prstGeom>
        </p:spPr>
      </p:pic>
      <p:pic>
        <p:nvPicPr>
          <p:cNvPr id="17413" name="Graphic 17413" descr="Ambient noi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88400" y="5651500"/>
            <a:ext cx="279400" cy="279400"/>
          </a:xfrm>
          <a:prstGeom prst="rect">
            <a:avLst/>
          </a:prstGeom>
        </p:spPr>
      </p:pic>
      <p:pic>
        <p:nvPicPr>
          <p:cNvPr id="17414" name="Graphic 17414" descr="Temperature sta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8900" y="1612900"/>
            <a:ext cx="152400" cy="152400"/>
          </a:xfrm>
          <a:prstGeom prst="rect">
            <a:avLst/>
          </a:prstGeom>
        </p:spPr>
      </p:pic>
      <p:pic>
        <p:nvPicPr>
          <p:cNvPr id="17415" name="Graphic 17415" descr="Environmental protec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1612900"/>
            <a:ext cx="152400" cy="152400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B0AF0968-A2BF-1515-652F-D7A0179C6A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2865" y="252246"/>
            <a:ext cx="136876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SPADES </a:t>
            </a:r>
            <a:endParaRPr lang="en-IN" dirty="0"/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BF847C1A-21F6-0720-548F-BE2B77468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SPADES</a:t>
            </a:r>
          </a:p>
        </p:txBody>
      </p:sp>
    </p:spTree>
    <p:extLst>
      <p:ext uri="{BB962C8B-B14F-4D97-AF65-F5344CB8AC3E}">
        <p14:creationId xmlns:p14="http://schemas.microsoft.com/office/powerpoint/2010/main" val="3856550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68008-4E50-5819-AD1D-A6C4F560A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E1A839-5B26-00F3-A2CD-6570E307F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0AB81308-7E47-B754-2E04-0A648C07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8511F-9922-DC59-C719-53180A76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8C7E95-0EA0-A3DB-FDA4-35781B875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000" name="Shape 5001"/>
          <p:cNvSpPr/>
          <p:nvPr/>
        </p:nvSpPr>
        <p:spPr>
          <a:xfrm>
            <a:off x="609600" y="1270000"/>
            <a:ext cx="3149600" cy="48768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1" name="Shape 5002"/>
          <p:cNvSpPr/>
          <p:nvPr/>
        </p:nvSpPr>
        <p:spPr>
          <a:xfrm>
            <a:off x="609600" y="1270000"/>
            <a:ext cx="50800" cy="4876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2" name="Text 5003"/>
          <p:cNvSpPr txBox="1"/>
          <p:nvPr/>
        </p:nvSpPr>
        <p:spPr>
          <a:xfrm>
            <a:off x="812800" y="1397000"/>
            <a:ext cx="27432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1F3864"/>
                </a:solidFill>
              </a:rPr>
              <a:t>TECHNICAL FEASIBILITY</a:t>
            </a:r>
          </a:p>
        </p:txBody>
      </p:sp>
      <p:cxnSp>
        <p:nvCxnSpPr>
          <p:cNvPr id="5003" name="Line 5004"/>
          <p:cNvCxnSpPr/>
          <p:nvPr/>
        </p:nvCxnSpPr>
        <p:spPr>
          <a:xfrm>
            <a:off x="812800" y="1701800"/>
            <a:ext cx="2743200" cy="0"/>
          </a:xfrm>
          <a:prstGeom prst="line">
            <a:avLst/>
          </a:prstGeom>
          <a:ln w="9525">
            <a:solidFill>
              <a:srgbClr val="C9D9EA"/>
            </a:solidFill>
          </a:ln>
        </p:spPr>
      </p:cxnSp>
      <p:sp>
        <p:nvSpPr>
          <p:cNvPr id="5004" name="Shape 5005"/>
          <p:cNvSpPr/>
          <p:nvPr/>
        </p:nvSpPr>
        <p:spPr>
          <a:xfrm>
            <a:off x="812800" y="1879600"/>
            <a:ext cx="27432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05" name="Shape 5006"/>
          <p:cNvSpPr/>
          <p:nvPr/>
        </p:nvSpPr>
        <p:spPr>
          <a:xfrm>
            <a:off x="812800" y="1879600"/>
            <a:ext cx="38100" cy="584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6" name="Text 5007"/>
          <p:cNvSpPr txBox="1"/>
          <p:nvPr/>
        </p:nvSpPr>
        <p:spPr>
          <a:xfrm>
            <a:off x="1295400" y="1930400"/>
            <a:ext cx="1803400" cy="48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262626"/>
                </a:solidFill>
              </a:rPr>
              <a:t>Commercial Components Available</a:t>
            </a:r>
          </a:p>
        </p:txBody>
      </p:sp>
      <p:sp>
        <p:nvSpPr>
          <p:cNvPr id="5007" name="Shape 5008"/>
          <p:cNvSpPr/>
          <p:nvPr/>
        </p:nvSpPr>
        <p:spPr>
          <a:xfrm>
            <a:off x="812800" y="2590800"/>
            <a:ext cx="27432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08" name="Shape 5009"/>
          <p:cNvSpPr/>
          <p:nvPr/>
        </p:nvSpPr>
        <p:spPr>
          <a:xfrm>
            <a:off x="812800" y="2590800"/>
            <a:ext cx="38100" cy="584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9" name="Text 5010"/>
          <p:cNvSpPr txBox="1"/>
          <p:nvPr/>
        </p:nvSpPr>
        <p:spPr>
          <a:xfrm>
            <a:off x="1295400" y="2641600"/>
            <a:ext cx="1803400" cy="48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262626"/>
                </a:solidFill>
              </a:rPr>
              <a:t>Standard PCB Manufacturing</a:t>
            </a:r>
          </a:p>
        </p:txBody>
      </p:sp>
      <p:sp>
        <p:nvSpPr>
          <p:cNvPr id="5010" name="Shape 5011"/>
          <p:cNvSpPr/>
          <p:nvPr/>
        </p:nvSpPr>
        <p:spPr>
          <a:xfrm>
            <a:off x="812800" y="3302000"/>
            <a:ext cx="27432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11" name="Shape 5012"/>
          <p:cNvSpPr/>
          <p:nvPr/>
        </p:nvSpPr>
        <p:spPr>
          <a:xfrm>
            <a:off x="812800" y="3302000"/>
            <a:ext cx="38100" cy="584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2" name="Text 5013"/>
          <p:cNvSpPr txBox="1"/>
          <p:nvPr/>
        </p:nvSpPr>
        <p:spPr>
          <a:xfrm>
            <a:off x="1295400" y="3352800"/>
            <a:ext cx="1803400" cy="48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262626"/>
                </a:solidFill>
              </a:rPr>
              <a:t>Modular Design</a:t>
            </a:r>
          </a:p>
        </p:txBody>
      </p:sp>
      <p:sp>
        <p:nvSpPr>
          <p:cNvPr id="5013" name="Shape 5014"/>
          <p:cNvSpPr/>
          <p:nvPr/>
        </p:nvSpPr>
        <p:spPr>
          <a:xfrm>
            <a:off x="812800" y="4013200"/>
            <a:ext cx="27432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14" name="Shape 5015"/>
          <p:cNvSpPr/>
          <p:nvPr/>
        </p:nvSpPr>
        <p:spPr>
          <a:xfrm>
            <a:off x="812800" y="4013200"/>
            <a:ext cx="38100" cy="584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5" name="Text 5016"/>
          <p:cNvSpPr txBox="1"/>
          <p:nvPr/>
        </p:nvSpPr>
        <p:spPr>
          <a:xfrm>
            <a:off x="1295400" y="4064000"/>
            <a:ext cx="1803400" cy="48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262626"/>
                </a:solidFill>
              </a:rPr>
              <a:t>Real-Time Monitoring</a:t>
            </a:r>
          </a:p>
        </p:txBody>
      </p:sp>
      <p:sp>
        <p:nvSpPr>
          <p:cNvPr id="5016" name="Shape 5017"/>
          <p:cNvSpPr/>
          <p:nvPr/>
        </p:nvSpPr>
        <p:spPr>
          <a:xfrm>
            <a:off x="812800" y="4724400"/>
            <a:ext cx="27432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17" name="Shape 5018"/>
          <p:cNvSpPr/>
          <p:nvPr/>
        </p:nvSpPr>
        <p:spPr>
          <a:xfrm>
            <a:off x="812800" y="4724400"/>
            <a:ext cx="38100" cy="584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8" name="Text 5019"/>
          <p:cNvSpPr txBox="1"/>
          <p:nvPr/>
        </p:nvSpPr>
        <p:spPr>
          <a:xfrm>
            <a:off x="1295400" y="4775200"/>
            <a:ext cx="1803400" cy="482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262626"/>
                </a:solidFill>
              </a:rPr>
              <a:t>Scalable Architecture</a:t>
            </a:r>
          </a:p>
        </p:txBody>
      </p:sp>
      <p:sp>
        <p:nvSpPr>
          <p:cNvPr id="5019" name="Text 5020"/>
          <p:cNvSpPr txBox="1"/>
          <p:nvPr/>
        </p:nvSpPr>
        <p:spPr>
          <a:xfrm>
            <a:off x="812800" y="54610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dirty="0">
                <a:solidFill>
                  <a:srgbClr val="595959"/>
                </a:solidFill>
              </a:rPr>
              <a:t>Feasibility criteria met</a:t>
            </a:r>
          </a:p>
        </p:txBody>
      </p:sp>
      <p:sp>
        <p:nvSpPr>
          <p:cNvPr id="5020" name="Text 5021"/>
          <p:cNvSpPr txBox="1"/>
          <p:nvPr/>
        </p:nvSpPr>
        <p:spPr>
          <a:xfrm>
            <a:off x="2717800" y="5435600"/>
            <a:ext cx="8382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400" b="1" dirty="0">
                <a:solidFill>
                  <a:srgbClr val="0070C0"/>
                </a:solidFill>
              </a:rPr>
              <a:t>5 / 5</a:t>
            </a:r>
          </a:p>
        </p:txBody>
      </p:sp>
      <p:sp>
        <p:nvSpPr>
          <p:cNvPr id="5021" name="Shape 5022"/>
          <p:cNvSpPr/>
          <p:nvPr/>
        </p:nvSpPr>
        <p:spPr>
          <a:xfrm>
            <a:off x="812800" y="5765800"/>
            <a:ext cx="508000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2" name="Shape 5023"/>
          <p:cNvSpPr/>
          <p:nvPr/>
        </p:nvSpPr>
        <p:spPr>
          <a:xfrm>
            <a:off x="1371600" y="5765800"/>
            <a:ext cx="508000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3" name="Shape 5024"/>
          <p:cNvSpPr/>
          <p:nvPr/>
        </p:nvSpPr>
        <p:spPr>
          <a:xfrm>
            <a:off x="1930400" y="5765800"/>
            <a:ext cx="508000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4" name="Shape 5025"/>
          <p:cNvSpPr/>
          <p:nvPr/>
        </p:nvSpPr>
        <p:spPr>
          <a:xfrm>
            <a:off x="2489200" y="5765800"/>
            <a:ext cx="508000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5" name="Shape 5026"/>
          <p:cNvSpPr/>
          <p:nvPr/>
        </p:nvSpPr>
        <p:spPr>
          <a:xfrm>
            <a:off x="3048000" y="5765800"/>
            <a:ext cx="508000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6" name="Shape 5027"/>
          <p:cNvSpPr/>
          <p:nvPr/>
        </p:nvSpPr>
        <p:spPr>
          <a:xfrm>
            <a:off x="3937000" y="1270000"/>
            <a:ext cx="4724400" cy="27686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7" name="Shape 5028"/>
          <p:cNvSpPr/>
          <p:nvPr/>
        </p:nvSpPr>
        <p:spPr>
          <a:xfrm>
            <a:off x="3937000" y="1270000"/>
            <a:ext cx="50800" cy="2768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00" name="Validation Card 18100"/>
          <p:cNvSpPr/>
          <p:nvPr/>
        </p:nvSpPr>
        <p:spPr>
          <a:xfrm>
            <a:off x="3937000" y="4165600"/>
            <a:ext cx="4724400" cy="19812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01" name="Validation Card 18101"/>
          <p:cNvSpPr/>
          <p:nvPr/>
        </p:nvSpPr>
        <p:spPr>
          <a:xfrm>
            <a:off x="3937000" y="4165600"/>
            <a:ext cx="50800" cy="1981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8" name="Text 5029"/>
          <p:cNvSpPr txBox="1"/>
          <p:nvPr/>
        </p:nvSpPr>
        <p:spPr>
          <a:xfrm>
            <a:off x="4140200" y="1397000"/>
            <a:ext cx="4318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1F3864"/>
                </a:solidFill>
              </a:rPr>
              <a:t>CHALLENGE VS SOLUTION</a:t>
            </a:r>
          </a:p>
        </p:txBody>
      </p:sp>
      <p:sp>
        <p:nvSpPr>
          <p:cNvPr id="18102" name="Validation Card 18102"/>
          <p:cNvSpPr txBox="1"/>
          <p:nvPr/>
        </p:nvSpPr>
        <p:spPr>
          <a:xfrm>
            <a:off x="4140200" y="4292600"/>
            <a:ext cx="4318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1F3864"/>
                </a:solidFill>
              </a:rPr>
              <a:t>VALIDATION &amp; EVALUATION PLAN</a:t>
            </a:r>
          </a:p>
        </p:txBody>
      </p:sp>
      <p:cxnSp>
        <p:nvCxnSpPr>
          <p:cNvPr id="5029" name="Line 5030"/>
          <p:cNvCxnSpPr/>
          <p:nvPr/>
        </p:nvCxnSpPr>
        <p:spPr>
          <a:xfrm>
            <a:off x="4140200" y="1701800"/>
            <a:ext cx="4318000" cy="0"/>
          </a:xfrm>
          <a:prstGeom prst="line">
            <a:avLst/>
          </a:prstGeom>
          <a:ln w="9525">
            <a:solidFill>
              <a:srgbClr val="C9D9EA"/>
            </a:solidFill>
          </a:ln>
        </p:spPr>
      </p:cxnSp>
      <p:cxnSp>
        <p:nvCxnSpPr>
          <p:cNvPr id="18103" name="Validation Card 18103"/>
          <p:cNvCxnSpPr/>
          <p:nvPr/>
        </p:nvCxnSpPr>
        <p:spPr>
          <a:xfrm>
            <a:off x="4140200" y="4597400"/>
            <a:ext cx="4318000" cy="0"/>
          </a:xfrm>
          <a:prstGeom prst="line">
            <a:avLst/>
          </a:prstGeom>
          <a:ln w="9525">
            <a:solidFill>
              <a:srgbClr val="C9D9EA"/>
            </a:solidFill>
          </a:ln>
        </p:spPr>
      </p:cxnSp>
      <p:sp>
        <p:nvSpPr>
          <p:cNvPr id="5030" name="Shape 5031"/>
          <p:cNvSpPr/>
          <p:nvPr/>
        </p:nvSpPr>
        <p:spPr>
          <a:xfrm>
            <a:off x="8839200" y="1270000"/>
            <a:ext cx="2743200" cy="48768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31" name="Shape 5032"/>
          <p:cNvSpPr/>
          <p:nvPr/>
        </p:nvSpPr>
        <p:spPr>
          <a:xfrm>
            <a:off x="8839200" y="1270000"/>
            <a:ext cx="50800" cy="4876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32" name="Text 5033"/>
          <p:cNvSpPr txBox="1"/>
          <p:nvPr/>
        </p:nvSpPr>
        <p:spPr>
          <a:xfrm>
            <a:off x="9042400" y="1397000"/>
            <a:ext cx="2336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1F3864"/>
                </a:solidFill>
              </a:rPr>
              <a:t>TARGET PERFORMANCE</a:t>
            </a:r>
          </a:p>
        </p:txBody>
      </p:sp>
      <p:cxnSp>
        <p:nvCxnSpPr>
          <p:cNvPr id="5033" name="Line 5034"/>
          <p:cNvCxnSpPr/>
          <p:nvPr/>
        </p:nvCxnSpPr>
        <p:spPr>
          <a:xfrm>
            <a:off x="9042400" y="1701800"/>
            <a:ext cx="2336800" cy="0"/>
          </a:xfrm>
          <a:prstGeom prst="line">
            <a:avLst/>
          </a:prstGeom>
          <a:ln w="9525">
            <a:solidFill>
              <a:srgbClr val="C9D9EA"/>
            </a:solidFill>
          </a:ln>
        </p:spPr>
      </p:cxnSp>
      <p:sp>
        <p:nvSpPr>
          <p:cNvPr id="5034" name="Shape 5035"/>
          <p:cNvSpPr/>
          <p:nvPr/>
        </p:nvSpPr>
        <p:spPr>
          <a:xfrm>
            <a:off x="9042400" y="1803400"/>
            <a:ext cx="2336800" cy="1041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35" name="Text 5036"/>
          <p:cNvSpPr txBox="1"/>
          <p:nvPr/>
        </p:nvSpPr>
        <p:spPr>
          <a:xfrm>
            <a:off x="9194800" y="18796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000" b="1" dirty="0">
                <a:solidFill>
                  <a:srgbClr val="BDD7EE"/>
                </a:solidFill>
              </a:rPr>
              <a:t>FREQUENCY RANGE</a:t>
            </a:r>
          </a:p>
        </p:txBody>
      </p:sp>
      <p:sp>
        <p:nvSpPr>
          <p:cNvPr id="5036" name="Text 5037"/>
          <p:cNvSpPr txBox="1"/>
          <p:nvPr/>
        </p:nvSpPr>
        <p:spPr>
          <a:xfrm>
            <a:off x="9194800" y="2032000"/>
            <a:ext cx="20320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</a:rPr>
              <a:t>&lt;20 Hz</a:t>
            </a:r>
          </a:p>
        </p:txBody>
      </p:sp>
      <p:sp>
        <p:nvSpPr>
          <p:cNvPr id="5037" name="Shape 5038"/>
          <p:cNvSpPr/>
          <p:nvPr/>
        </p:nvSpPr>
        <p:spPr>
          <a:xfrm>
            <a:off x="9194800" y="2413000"/>
            <a:ext cx="1676400" cy="152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5038" name="Line 5039"/>
          <p:cNvCxnSpPr/>
          <p:nvPr/>
        </p:nvCxnSpPr>
        <p:spPr>
          <a:xfrm>
            <a:off x="9194800" y="2641600"/>
            <a:ext cx="2032000" cy="0"/>
          </a:xfrm>
          <a:prstGeom prst="line">
            <a:avLst/>
          </a:prstGeom>
          <a:ln w="9525">
            <a:solidFill>
              <a:srgbClr val="8FAADC"/>
            </a:solidFill>
          </a:ln>
        </p:spPr>
      </p:cxnSp>
      <p:cxnSp>
        <p:nvCxnSpPr>
          <p:cNvPr id="5039" name="Line 5040"/>
          <p:cNvCxnSpPr/>
          <p:nvPr/>
        </p:nvCxnSpPr>
        <p:spPr>
          <a:xfrm>
            <a:off x="9194800" y="2590800"/>
            <a:ext cx="0" cy="101600"/>
          </a:xfrm>
          <a:prstGeom prst="line">
            <a:avLst/>
          </a:prstGeom>
          <a:ln w="9525">
            <a:solidFill>
              <a:srgbClr val="8FAADC"/>
            </a:solidFill>
          </a:ln>
        </p:spPr>
      </p:cxnSp>
      <p:sp>
        <p:nvSpPr>
          <p:cNvPr id="5040" name="Text 5041"/>
          <p:cNvSpPr txBox="1"/>
          <p:nvPr/>
        </p:nvSpPr>
        <p:spPr>
          <a:xfrm>
            <a:off x="8991600" y="2705100"/>
            <a:ext cx="406400" cy="127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0" dirty="0">
                <a:solidFill>
                  <a:srgbClr val="BDD7EE"/>
                </a:solidFill>
              </a:rPr>
              <a:t>0</a:t>
            </a:r>
          </a:p>
        </p:txBody>
      </p:sp>
      <p:cxnSp>
        <p:nvCxnSpPr>
          <p:cNvPr id="5041" name="Line 5042"/>
          <p:cNvCxnSpPr/>
          <p:nvPr/>
        </p:nvCxnSpPr>
        <p:spPr>
          <a:xfrm>
            <a:off x="9702800" y="2590800"/>
            <a:ext cx="0" cy="101600"/>
          </a:xfrm>
          <a:prstGeom prst="line">
            <a:avLst/>
          </a:prstGeom>
          <a:ln w="9525">
            <a:solidFill>
              <a:srgbClr val="8FAADC"/>
            </a:solidFill>
          </a:ln>
        </p:spPr>
      </p:cxnSp>
      <p:sp>
        <p:nvSpPr>
          <p:cNvPr id="5042" name="Text 5043"/>
          <p:cNvSpPr txBox="1"/>
          <p:nvPr/>
        </p:nvSpPr>
        <p:spPr>
          <a:xfrm>
            <a:off x="9499600" y="2705100"/>
            <a:ext cx="406400" cy="127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0" dirty="0">
                <a:solidFill>
                  <a:srgbClr val="BDD7EE"/>
                </a:solidFill>
              </a:rPr>
              <a:t>0.1</a:t>
            </a:r>
          </a:p>
        </p:txBody>
      </p:sp>
      <p:cxnSp>
        <p:nvCxnSpPr>
          <p:cNvPr id="5043" name="Line 5044"/>
          <p:cNvCxnSpPr/>
          <p:nvPr/>
        </p:nvCxnSpPr>
        <p:spPr>
          <a:xfrm>
            <a:off x="10210800" y="2590800"/>
            <a:ext cx="0" cy="101600"/>
          </a:xfrm>
          <a:prstGeom prst="line">
            <a:avLst/>
          </a:prstGeom>
          <a:ln w="9525">
            <a:solidFill>
              <a:srgbClr val="8FAADC"/>
            </a:solidFill>
          </a:ln>
        </p:spPr>
      </p:cxnSp>
      <p:sp>
        <p:nvSpPr>
          <p:cNvPr id="5044" name="Text 5045"/>
          <p:cNvSpPr txBox="1"/>
          <p:nvPr/>
        </p:nvSpPr>
        <p:spPr>
          <a:xfrm>
            <a:off x="10007600" y="2705100"/>
            <a:ext cx="406400" cy="127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0" dirty="0">
                <a:solidFill>
                  <a:srgbClr val="BDD7EE"/>
                </a:solidFill>
              </a:rPr>
              <a:t>1</a:t>
            </a:r>
          </a:p>
        </p:txBody>
      </p:sp>
      <p:cxnSp>
        <p:nvCxnSpPr>
          <p:cNvPr id="5045" name="Line 5046"/>
          <p:cNvCxnSpPr/>
          <p:nvPr/>
        </p:nvCxnSpPr>
        <p:spPr>
          <a:xfrm>
            <a:off x="10718800" y="2590800"/>
            <a:ext cx="0" cy="101600"/>
          </a:xfrm>
          <a:prstGeom prst="line">
            <a:avLst/>
          </a:prstGeom>
          <a:ln w="9525">
            <a:solidFill>
              <a:srgbClr val="8FAADC"/>
            </a:solidFill>
          </a:ln>
        </p:spPr>
      </p:cxnSp>
      <p:sp>
        <p:nvSpPr>
          <p:cNvPr id="5046" name="Text 5047"/>
          <p:cNvSpPr txBox="1"/>
          <p:nvPr/>
        </p:nvSpPr>
        <p:spPr>
          <a:xfrm>
            <a:off x="10515600" y="2705100"/>
            <a:ext cx="406400" cy="127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0" dirty="0">
                <a:solidFill>
                  <a:srgbClr val="BDD7EE"/>
                </a:solidFill>
              </a:rPr>
              <a:t>10</a:t>
            </a:r>
          </a:p>
        </p:txBody>
      </p:sp>
      <p:cxnSp>
        <p:nvCxnSpPr>
          <p:cNvPr id="5047" name="Line 5048"/>
          <p:cNvCxnSpPr/>
          <p:nvPr/>
        </p:nvCxnSpPr>
        <p:spPr>
          <a:xfrm>
            <a:off x="11226800" y="2590800"/>
            <a:ext cx="0" cy="101600"/>
          </a:xfrm>
          <a:prstGeom prst="line">
            <a:avLst/>
          </a:prstGeom>
          <a:ln w="9525">
            <a:solidFill>
              <a:srgbClr val="8FAADC"/>
            </a:solidFill>
          </a:ln>
        </p:spPr>
      </p:cxnSp>
      <p:sp>
        <p:nvSpPr>
          <p:cNvPr id="5048" name="Text 5049"/>
          <p:cNvSpPr txBox="1"/>
          <p:nvPr/>
        </p:nvSpPr>
        <p:spPr>
          <a:xfrm>
            <a:off x="11023600" y="2705100"/>
            <a:ext cx="406400" cy="127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 b="0" dirty="0">
                <a:solidFill>
                  <a:srgbClr val="BDD7EE"/>
                </a:solidFill>
              </a:rPr>
              <a:t>100</a:t>
            </a:r>
          </a:p>
        </p:txBody>
      </p:sp>
      <p:sp>
        <p:nvSpPr>
          <p:cNvPr id="5049" name="Text 5050"/>
          <p:cNvSpPr txBox="1"/>
          <p:nvPr/>
        </p:nvSpPr>
        <p:spPr>
          <a:xfrm>
            <a:off x="9271000" y="241300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Infrasound band</a:t>
            </a:r>
          </a:p>
        </p:txBody>
      </p:sp>
      <p:sp>
        <p:nvSpPr>
          <p:cNvPr id="5050" name="Shape 5051"/>
          <p:cNvSpPr/>
          <p:nvPr/>
        </p:nvSpPr>
        <p:spPr>
          <a:xfrm>
            <a:off x="9042400" y="3022600"/>
            <a:ext cx="23368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51" name="Text 5052"/>
          <p:cNvSpPr txBox="1"/>
          <p:nvPr/>
        </p:nvSpPr>
        <p:spPr>
          <a:xfrm>
            <a:off x="9550400" y="3162300"/>
            <a:ext cx="172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262626"/>
                </a:solidFill>
              </a:rPr>
              <a:t>Low Drift</a:t>
            </a:r>
          </a:p>
        </p:txBody>
      </p:sp>
      <p:sp>
        <p:nvSpPr>
          <p:cNvPr id="5052" name="Shape 5053"/>
          <p:cNvSpPr/>
          <p:nvPr/>
        </p:nvSpPr>
        <p:spPr>
          <a:xfrm>
            <a:off x="9042400" y="3733800"/>
            <a:ext cx="23368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53" name="Text 5054"/>
          <p:cNvSpPr txBox="1"/>
          <p:nvPr/>
        </p:nvSpPr>
        <p:spPr>
          <a:xfrm>
            <a:off x="9550400" y="3873500"/>
            <a:ext cx="172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262626"/>
                </a:solidFill>
              </a:rPr>
              <a:t>Real-Time Monitoring</a:t>
            </a:r>
          </a:p>
        </p:txBody>
      </p:sp>
      <p:sp>
        <p:nvSpPr>
          <p:cNvPr id="5054" name="Shape 5055"/>
          <p:cNvSpPr/>
          <p:nvPr/>
        </p:nvSpPr>
        <p:spPr>
          <a:xfrm>
            <a:off x="9042400" y="4445000"/>
            <a:ext cx="23368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55" name="Text 5056"/>
          <p:cNvSpPr txBox="1"/>
          <p:nvPr/>
        </p:nvSpPr>
        <p:spPr>
          <a:xfrm>
            <a:off x="9550400" y="4584700"/>
            <a:ext cx="172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262626"/>
                </a:solidFill>
              </a:rPr>
              <a:t>0.01–20 Hz Response</a:t>
            </a:r>
          </a:p>
        </p:txBody>
      </p:sp>
      <p:sp>
        <p:nvSpPr>
          <p:cNvPr id="5056" name="Shape 5057"/>
          <p:cNvSpPr/>
          <p:nvPr/>
        </p:nvSpPr>
        <p:spPr>
          <a:xfrm>
            <a:off x="9042400" y="5156200"/>
            <a:ext cx="23368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57" name="Text 5058"/>
          <p:cNvSpPr txBox="1"/>
          <p:nvPr/>
        </p:nvSpPr>
        <p:spPr>
          <a:xfrm>
            <a:off x="9550400" y="5295900"/>
            <a:ext cx="172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262626"/>
                </a:solidFill>
              </a:rPr>
              <a:t>Modular Maintenance</a:t>
            </a:r>
          </a:p>
        </p:txBody>
      </p:sp>
      <p:graphicFrame>
        <p:nvGraphicFramePr>
          <p:cNvPr id="5058" name="Challenge Table"/>
          <p:cNvGraphicFramePr>
            <a:graphicFrameLocks noGrp="1"/>
          </p:cNvGraphicFramePr>
          <p:nvPr/>
        </p:nvGraphicFramePr>
        <p:xfrm>
          <a:off x="4140200" y="1778000"/>
          <a:ext cx="4318000" cy="2255520"/>
        </p:xfrm>
        <a:graphic>
          <a:graphicData uri="http://schemas.openxmlformats.org/drawingml/2006/table">
            <a:tbl>
              <a:tblPr first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Challenge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0070C0"/>
                          </a:solidFill>
                        </a:rPr>
                        <a:t>Engineering Solution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59595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Pressure Drift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→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62626"/>
                          </a:solidFill>
                        </a:rPr>
                        <a:t>Differential Pressure Equalization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Thermal Drift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→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62626"/>
                          </a:solidFill>
                        </a:rPr>
                        <a:t>Underground Environmental Enclosure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Long-Term Stability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→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62626"/>
                          </a:solidFill>
                        </a:rPr>
                        <a:t>Self-Calibration using Reference Pressure Testing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262626"/>
                          </a:solidFill>
                        </a:rPr>
                        <a:t>Maintenance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70C0"/>
                          </a:solidFill>
                        </a:rPr>
                        <a:t>→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62626"/>
                          </a:solidFill>
                        </a:rPr>
                        <a:t>Plug-and-Replace Cartridge Design</a:t>
                      </a:r>
                    </a:p>
                  </a:txBody>
                  <a:tcPr marL="45720" marR="4572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7410" name="Graphic 17410" descr="Validat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2044700"/>
            <a:ext cx="254000" cy="254000"/>
          </a:xfrm>
          <a:prstGeom prst="rect">
            <a:avLst/>
          </a:prstGeom>
        </p:spPr>
      </p:pic>
      <p:pic>
        <p:nvPicPr>
          <p:cNvPr id="5101" name="Check 1" descr="Validat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2755900"/>
            <a:ext cx="254000" cy="254000"/>
          </a:xfrm>
          <a:prstGeom prst="rect">
            <a:avLst/>
          </a:prstGeom>
        </p:spPr>
      </p:pic>
      <p:pic>
        <p:nvPicPr>
          <p:cNvPr id="5102" name="Check 2" descr="Validat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3467100"/>
            <a:ext cx="254000" cy="254000"/>
          </a:xfrm>
          <a:prstGeom prst="rect">
            <a:avLst/>
          </a:prstGeom>
        </p:spPr>
      </p:pic>
      <p:pic>
        <p:nvPicPr>
          <p:cNvPr id="5103" name="Check 3" descr="Validat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4178300"/>
            <a:ext cx="254000" cy="254000"/>
          </a:xfrm>
          <a:prstGeom prst="rect">
            <a:avLst/>
          </a:prstGeom>
        </p:spPr>
      </p:pic>
      <p:pic>
        <p:nvPicPr>
          <p:cNvPr id="5104" name="Check 4" descr="Validat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4889500"/>
            <a:ext cx="254000" cy="254000"/>
          </a:xfrm>
          <a:prstGeom prst="rect">
            <a:avLst/>
          </a:prstGeom>
        </p:spPr>
      </p:pic>
      <p:pic>
        <p:nvPicPr>
          <p:cNvPr id="17420" name="Graphic 17420" descr="Componen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0400" y="2044700"/>
            <a:ext cx="254000" cy="254000"/>
          </a:xfrm>
          <a:prstGeom prst="rect">
            <a:avLst/>
          </a:prstGeom>
        </p:spPr>
      </p:pic>
      <p:pic>
        <p:nvPicPr>
          <p:cNvPr id="17421" name="Graphic 17421" descr="Manufactur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0400" y="2755900"/>
            <a:ext cx="254000" cy="254000"/>
          </a:xfrm>
          <a:prstGeom prst="rect">
            <a:avLst/>
          </a:prstGeom>
        </p:spPr>
      </p:pic>
      <p:pic>
        <p:nvPicPr>
          <p:cNvPr id="17422" name="Graphic 17422" descr="Modular desig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0400" y="3467100"/>
            <a:ext cx="254000" cy="254000"/>
          </a:xfrm>
          <a:prstGeom prst="rect">
            <a:avLst/>
          </a:prstGeom>
        </p:spPr>
      </p:pic>
      <p:pic>
        <p:nvPicPr>
          <p:cNvPr id="17423" name="Graphic 17423" descr="Real-time monitor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00400" y="4178300"/>
            <a:ext cx="254000" cy="254000"/>
          </a:xfrm>
          <a:prstGeom prst="rect">
            <a:avLst/>
          </a:prstGeom>
        </p:spPr>
      </p:pic>
      <p:pic>
        <p:nvPicPr>
          <p:cNvPr id="17424" name="Graphic 17424" descr="Scalable architectu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00400" y="4889500"/>
            <a:ext cx="254000" cy="254000"/>
          </a:xfrm>
          <a:prstGeom prst="rect">
            <a:avLst/>
          </a:prstGeom>
        </p:spPr>
      </p:pic>
      <p:pic>
        <p:nvPicPr>
          <p:cNvPr id="17425" name="Graphic 17425" descr="Low drif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69400" y="3175000"/>
            <a:ext cx="254000" cy="254000"/>
          </a:xfrm>
          <a:prstGeom prst="rect">
            <a:avLst/>
          </a:prstGeom>
        </p:spPr>
      </p:pic>
      <p:pic>
        <p:nvPicPr>
          <p:cNvPr id="17426" name="Graphic 17426" descr="Real-tim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69400" y="3886200"/>
            <a:ext cx="254000" cy="254000"/>
          </a:xfrm>
          <a:prstGeom prst="rect">
            <a:avLst/>
          </a:prstGeom>
        </p:spPr>
      </p:pic>
      <p:pic>
        <p:nvPicPr>
          <p:cNvPr id="17428" name="Graphic 17428" descr="Modular mainten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69400" y="5308600"/>
            <a:ext cx="254000" cy="254000"/>
          </a:xfrm>
          <a:prstGeom prst="rect">
            <a:avLst/>
          </a:prstGeom>
        </p:spPr>
      </p:pic>
      <p:sp>
        <p:nvSpPr>
          <p:cNvPr id="18002" name="Validation 18002"/>
          <p:cNvSpPr txBox="1"/>
          <p:nvPr/>
        </p:nvSpPr>
        <p:spPr>
          <a:xfrm>
            <a:off x="4140200" y="4673600"/>
            <a:ext cx="2032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0070C0"/>
                </a:solidFill>
              </a:rPr>
              <a:t>✓</a:t>
            </a:r>
          </a:p>
        </p:txBody>
      </p:sp>
      <p:sp>
        <p:nvSpPr>
          <p:cNvPr id="18003" name="Validation 18003"/>
          <p:cNvSpPr txBox="1"/>
          <p:nvPr/>
        </p:nvSpPr>
        <p:spPr>
          <a:xfrm>
            <a:off x="4368800" y="4673600"/>
            <a:ext cx="36830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dirty="0">
                <a:solidFill>
                  <a:srgbClr val="262626"/>
                </a:solidFill>
              </a:rPr>
              <a:t>Low-Frequency Signal Detection</a:t>
            </a:r>
          </a:p>
        </p:txBody>
      </p:sp>
      <p:sp>
        <p:nvSpPr>
          <p:cNvPr id="18004" name="Validation 18004"/>
          <p:cNvSpPr txBox="1"/>
          <p:nvPr/>
        </p:nvSpPr>
        <p:spPr>
          <a:xfrm>
            <a:off x="4140200" y="4940300"/>
            <a:ext cx="2032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0070C0"/>
                </a:solidFill>
              </a:rPr>
              <a:t>✓</a:t>
            </a:r>
          </a:p>
        </p:txBody>
      </p:sp>
      <p:sp>
        <p:nvSpPr>
          <p:cNvPr id="18005" name="Validation 18005"/>
          <p:cNvSpPr txBox="1"/>
          <p:nvPr/>
        </p:nvSpPr>
        <p:spPr>
          <a:xfrm>
            <a:off x="4368800" y="4940300"/>
            <a:ext cx="36830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dirty="0">
                <a:solidFill>
                  <a:srgbClr val="262626"/>
                </a:solidFill>
              </a:rPr>
              <a:t>Frequency Response Testing</a:t>
            </a:r>
          </a:p>
        </p:txBody>
      </p:sp>
      <p:sp>
        <p:nvSpPr>
          <p:cNvPr id="18006" name="Validation 18006"/>
          <p:cNvSpPr txBox="1"/>
          <p:nvPr/>
        </p:nvSpPr>
        <p:spPr>
          <a:xfrm>
            <a:off x="4140200" y="5207000"/>
            <a:ext cx="2032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0070C0"/>
                </a:solidFill>
              </a:rPr>
              <a:t>✓</a:t>
            </a:r>
          </a:p>
        </p:txBody>
      </p:sp>
      <p:sp>
        <p:nvSpPr>
          <p:cNvPr id="18007" name="Validation 18007"/>
          <p:cNvSpPr txBox="1"/>
          <p:nvPr/>
        </p:nvSpPr>
        <p:spPr>
          <a:xfrm>
            <a:off x="4368800" y="5207000"/>
            <a:ext cx="36830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dirty="0">
                <a:solidFill>
                  <a:srgbClr val="262626"/>
                </a:solidFill>
              </a:rPr>
              <a:t>Noise Floor Measurement</a:t>
            </a:r>
          </a:p>
        </p:txBody>
      </p:sp>
      <p:sp>
        <p:nvSpPr>
          <p:cNvPr id="18008" name="Validation 18008"/>
          <p:cNvSpPr txBox="1"/>
          <p:nvPr/>
        </p:nvSpPr>
        <p:spPr>
          <a:xfrm>
            <a:off x="4140200" y="5473700"/>
            <a:ext cx="2032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0070C0"/>
                </a:solidFill>
              </a:rPr>
              <a:t>✓</a:t>
            </a:r>
          </a:p>
        </p:txBody>
      </p:sp>
      <p:sp>
        <p:nvSpPr>
          <p:cNvPr id="18009" name="Validation 18009"/>
          <p:cNvSpPr txBox="1"/>
          <p:nvPr/>
        </p:nvSpPr>
        <p:spPr>
          <a:xfrm>
            <a:off x="4368800" y="5473700"/>
            <a:ext cx="36830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dirty="0">
                <a:solidFill>
                  <a:srgbClr val="262626"/>
                </a:solidFill>
              </a:rPr>
              <a:t>Sensitivity Estimation</a:t>
            </a:r>
          </a:p>
        </p:txBody>
      </p:sp>
      <p:sp>
        <p:nvSpPr>
          <p:cNvPr id="18010" name="Validation 18010"/>
          <p:cNvSpPr txBox="1"/>
          <p:nvPr/>
        </p:nvSpPr>
        <p:spPr>
          <a:xfrm>
            <a:off x="4140200" y="5740400"/>
            <a:ext cx="2032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0070C0"/>
                </a:solidFill>
              </a:rPr>
              <a:t>✓</a:t>
            </a:r>
          </a:p>
        </p:txBody>
      </p:sp>
      <p:sp>
        <p:nvSpPr>
          <p:cNvPr id="18011" name="Validation 18011"/>
          <p:cNvSpPr txBox="1"/>
          <p:nvPr/>
        </p:nvSpPr>
        <p:spPr>
          <a:xfrm>
            <a:off x="4368800" y="5740400"/>
            <a:ext cx="36830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0" dirty="0">
                <a:solidFill>
                  <a:srgbClr val="262626"/>
                </a:solidFill>
              </a:rPr>
              <a:t>Stability Testing</a:t>
            </a:r>
          </a:p>
        </p:txBody>
      </p:sp>
      <p:pic>
        <p:nvPicPr>
          <p:cNvPr id="18012" name="Graphic 18012" descr="Signal detec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4200" y="4705350"/>
            <a:ext cx="203200" cy="203200"/>
          </a:xfrm>
          <a:prstGeom prst="rect">
            <a:avLst/>
          </a:prstGeom>
        </p:spPr>
      </p:pic>
      <p:pic>
        <p:nvPicPr>
          <p:cNvPr id="18013" name="Graphic 18013" descr="Frequency response test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04200" y="4972050"/>
            <a:ext cx="203200" cy="203200"/>
          </a:xfrm>
          <a:prstGeom prst="rect">
            <a:avLst/>
          </a:prstGeom>
        </p:spPr>
      </p:pic>
      <p:pic>
        <p:nvPicPr>
          <p:cNvPr id="18014" name="Graphic 18014" descr="Sensitivity calibr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04200" y="5505450"/>
            <a:ext cx="203200" cy="203200"/>
          </a:xfrm>
          <a:prstGeom prst="rect">
            <a:avLst/>
          </a:prstGeom>
        </p:spPr>
      </p:pic>
      <p:pic>
        <p:nvPicPr>
          <p:cNvPr id="18015" name="Graphic 18015" descr="Noise floor measure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04200" y="5238750"/>
            <a:ext cx="203200" cy="203200"/>
          </a:xfrm>
          <a:prstGeom prst="rect">
            <a:avLst/>
          </a:prstGeom>
        </p:spPr>
      </p:pic>
      <p:pic>
        <p:nvPicPr>
          <p:cNvPr id="18016" name="Graphic 18016" descr="Stability valid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04200" y="5772150"/>
            <a:ext cx="203200" cy="203200"/>
          </a:xfrm>
          <a:prstGeom prst="rect">
            <a:avLst/>
          </a:prstGeom>
        </p:spPr>
      </p:pic>
      <p:pic>
        <p:nvPicPr>
          <p:cNvPr id="18104" name="Graphic 18104" descr="Frequency respon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69400" y="4597400"/>
            <a:ext cx="254000" cy="254000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CE6F9BF2-AEB8-FF02-2521-24166C22DB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2865" y="252246"/>
            <a:ext cx="136876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SPADES </a:t>
            </a:r>
            <a:endParaRPr lang="en-IN" dirty="0"/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F5A5C285-96AF-3DD3-D205-FE4AA1957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SPADES</a:t>
            </a:r>
          </a:p>
        </p:txBody>
      </p:sp>
    </p:spTree>
    <p:extLst>
      <p:ext uri="{BB962C8B-B14F-4D97-AF65-F5344CB8AC3E}">
        <p14:creationId xmlns:p14="http://schemas.microsoft.com/office/powerpoint/2010/main" val="3160591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855E44-1E14-7967-53B7-47C4BC22B1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100" name="Shape 2101"/>
          <p:cNvSpPr/>
          <p:nvPr/>
        </p:nvSpPr>
        <p:spPr>
          <a:xfrm>
            <a:off x="609600" y="1117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070C0"/>
                </a:solidFill>
              </a:rPr>
              <a:t>APPLICATIONS</a:t>
            </a:r>
          </a:p>
        </p:txBody>
      </p:sp>
      <p:sp>
        <p:nvSpPr>
          <p:cNvPr id="2101" name="Shape 2102"/>
          <p:cNvSpPr/>
          <p:nvPr/>
        </p:nvSpPr>
        <p:spPr>
          <a:xfrm>
            <a:off x="609600" y="3378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1300" b="1" dirty="0">
                <a:solidFill>
                  <a:srgbClr val="0070C0"/>
                </a:solidFill>
              </a:rPr>
              <a:t>KEY BENEFITS</a:t>
            </a:r>
          </a:p>
        </p:txBody>
      </p:sp>
      <p:sp>
        <p:nvSpPr>
          <p:cNvPr id="2102" name="Shape 2103"/>
          <p:cNvSpPr/>
          <p:nvPr/>
        </p:nvSpPr>
        <p:spPr>
          <a:xfrm>
            <a:off x="609600" y="1397000"/>
            <a:ext cx="2082800" cy="1549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2103" name="Shape 2104"/>
          <p:cNvSpPr/>
          <p:nvPr/>
        </p:nvSpPr>
        <p:spPr>
          <a:xfrm>
            <a:off x="609600" y="1397000"/>
            <a:ext cx="20828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04" name="Shape 2105"/>
          <p:cNvSpPr/>
          <p:nvPr/>
        </p:nvSpPr>
        <p:spPr>
          <a:xfrm>
            <a:off x="762000" y="1816100"/>
            <a:ext cx="18034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FFFFFF"/>
                </a:solidFill>
              </a:rPr>
              <a:t>Atmospheric Event Monitoring</a:t>
            </a:r>
          </a:p>
          <a:p>
            <a:pPr marL="171450" indent="-171450" algn="l">
              <a:lnSpc>
                <a:spcPct val="90000"/>
              </a:lnSpc>
              <a:spcAft>
                <a:spcPts val="200"/>
              </a:spcAft>
              <a:buClr>
                <a:srgbClr val="5FB3F0"/>
              </a:buClr>
              <a:buFont typeface="Arial"/>
              <a:buChar char="■"/>
            </a:pPr>
            <a:r>
              <a:rPr lang="en-US" sz="1150" dirty="0">
                <a:solidFill>
                  <a:srgbClr val="D6E6F5"/>
                </a:solidFill>
              </a:rPr>
              <a:t>Atmospheric anomaly detection</a:t>
            </a:r>
          </a:p>
          <a:p>
            <a:pPr marL="171450" indent="-171450" algn="l">
              <a:lnSpc>
                <a:spcPct val="90000"/>
              </a:lnSpc>
              <a:spcAft>
                <a:spcPts val="200"/>
              </a:spcAft>
              <a:buClr>
                <a:srgbClr val="5FB3F0"/>
              </a:buClr>
              <a:buFont typeface="Arial"/>
              <a:buChar char="■"/>
            </a:pPr>
            <a:r>
              <a:rPr lang="en-US" sz="1150" dirty="0">
                <a:solidFill>
                  <a:srgbClr val="D6E6F5"/>
                </a:solidFill>
              </a:rPr>
              <a:t>High-energy event monitoring</a:t>
            </a:r>
          </a:p>
        </p:txBody>
      </p:sp>
      <p:sp>
        <p:nvSpPr>
          <p:cNvPr id="2105" name="Shape 2106"/>
          <p:cNvSpPr/>
          <p:nvPr/>
        </p:nvSpPr>
        <p:spPr>
          <a:xfrm>
            <a:off x="2832100" y="1397000"/>
            <a:ext cx="2082800" cy="1549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06" name="Shape 2107"/>
          <p:cNvSpPr/>
          <p:nvPr/>
        </p:nvSpPr>
        <p:spPr>
          <a:xfrm>
            <a:off x="2832100" y="1397000"/>
            <a:ext cx="20828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07" name="Shape 2108"/>
          <p:cNvSpPr/>
          <p:nvPr/>
        </p:nvSpPr>
        <p:spPr>
          <a:xfrm>
            <a:off x="2984500" y="1816100"/>
            <a:ext cx="18034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FFFFFF"/>
                </a:solidFill>
              </a:rPr>
              <a:t>Geophysical Monitoring</a:t>
            </a:r>
          </a:p>
          <a:p>
            <a:pPr marL="171450" indent="-171450" algn="l">
              <a:lnSpc>
                <a:spcPct val="90000"/>
              </a:lnSpc>
              <a:spcAft>
                <a:spcPts val="200"/>
              </a:spcAft>
              <a:buClr>
                <a:srgbClr val="5FB3F0"/>
              </a:buClr>
              <a:buFont typeface="Arial"/>
              <a:buChar char="■"/>
            </a:pPr>
            <a:r>
              <a:rPr lang="en-US" sz="1150" dirty="0">
                <a:solidFill>
                  <a:srgbClr val="D6E6F5"/>
                </a:solidFill>
              </a:rPr>
              <a:t>Monitor atmospheric signatures of geophysical events</a:t>
            </a:r>
          </a:p>
          <a:p>
            <a:pPr marL="171450" indent="-171450" algn="l">
              <a:lnSpc>
                <a:spcPct val="90000"/>
              </a:lnSpc>
              <a:spcAft>
                <a:spcPts val="200"/>
              </a:spcAft>
              <a:buClr>
                <a:srgbClr val="5FB3F0"/>
              </a:buClr>
              <a:buFont typeface="Arial"/>
              <a:buChar char="■"/>
            </a:pPr>
            <a:r>
              <a:rPr lang="en-US" sz="1150" dirty="0">
                <a:solidFill>
                  <a:srgbClr val="D6E6F5"/>
                </a:solidFill>
              </a:rPr>
              <a:t>Support scientific research</a:t>
            </a:r>
          </a:p>
        </p:txBody>
      </p:sp>
      <p:sp>
        <p:nvSpPr>
          <p:cNvPr id="2108" name="Shape 2109"/>
          <p:cNvSpPr/>
          <p:nvPr/>
        </p:nvSpPr>
        <p:spPr>
          <a:xfrm>
            <a:off x="5054600" y="1397000"/>
            <a:ext cx="2082800" cy="1549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2109" name="Shape 2110"/>
          <p:cNvSpPr/>
          <p:nvPr/>
        </p:nvSpPr>
        <p:spPr>
          <a:xfrm>
            <a:off x="5054600" y="1397000"/>
            <a:ext cx="20828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10" name="Shape 2111"/>
          <p:cNvSpPr/>
          <p:nvPr/>
        </p:nvSpPr>
        <p:spPr>
          <a:xfrm>
            <a:off x="5207000" y="1816100"/>
            <a:ext cx="18034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FFFFFF"/>
                </a:solidFill>
              </a:rPr>
              <a:t>Rocket &amp; Aerospace Monitoring</a:t>
            </a:r>
          </a:p>
          <a:p>
            <a:pPr marL="171450" indent="-171450" algn="l">
              <a:lnSpc>
                <a:spcPct val="90000"/>
              </a:lnSpc>
              <a:spcAft>
                <a:spcPts val="200"/>
              </a:spcAft>
              <a:buClr>
                <a:srgbClr val="5FB3F0"/>
              </a:buClr>
              <a:buFont typeface="Arial"/>
              <a:buChar char="■"/>
            </a:pPr>
            <a:r>
              <a:rPr lang="en-US" sz="1150" dirty="0">
                <a:solidFill>
                  <a:srgbClr val="D6E6F5"/>
                </a:solidFill>
              </a:rPr>
              <a:t>Detect launch-generated infrasound</a:t>
            </a:r>
          </a:p>
          <a:p>
            <a:pPr marL="171450" indent="-171450" algn="l">
              <a:lnSpc>
                <a:spcPct val="90000"/>
              </a:lnSpc>
              <a:spcAft>
                <a:spcPts val="200"/>
              </a:spcAft>
              <a:buClr>
                <a:srgbClr val="5FB3F0"/>
              </a:buClr>
              <a:buFont typeface="Arial"/>
              <a:buChar char="■"/>
            </a:pPr>
            <a:r>
              <a:rPr lang="en-US" sz="1150" dirty="0">
                <a:solidFill>
                  <a:srgbClr val="D6E6F5"/>
                </a:solidFill>
              </a:rPr>
              <a:t>Support aerospace testing</a:t>
            </a:r>
          </a:p>
        </p:txBody>
      </p:sp>
      <p:sp>
        <p:nvSpPr>
          <p:cNvPr id="2111" name="Shape 2112"/>
          <p:cNvSpPr/>
          <p:nvPr/>
        </p:nvSpPr>
        <p:spPr>
          <a:xfrm>
            <a:off x="7277100" y="1397000"/>
            <a:ext cx="2082800" cy="1549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2112" name="Shape 2113"/>
          <p:cNvSpPr/>
          <p:nvPr/>
        </p:nvSpPr>
        <p:spPr>
          <a:xfrm>
            <a:off x="7277100" y="1397000"/>
            <a:ext cx="20828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13" name="Shape 2114"/>
          <p:cNvSpPr/>
          <p:nvPr/>
        </p:nvSpPr>
        <p:spPr>
          <a:xfrm>
            <a:off x="7429500" y="1816100"/>
            <a:ext cx="18034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FFFFFF"/>
                </a:solidFill>
              </a:rPr>
              <a:t>Atmospheric &amp; Volcanic Research</a:t>
            </a:r>
          </a:p>
          <a:p>
            <a:pPr marL="171450" indent="-171450" algn="l">
              <a:lnSpc>
                <a:spcPct val="90000"/>
              </a:lnSpc>
              <a:spcAft>
                <a:spcPts val="200"/>
              </a:spcAft>
              <a:buClr>
                <a:srgbClr val="5FB3F0"/>
              </a:buClr>
              <a:buFont typeface="Arial"/>
              <a:buChar char="■"/>
            </a:pPr>
            <a:r>
              <a:rPr lang="en-US" sz="1150" dirty="0">
                <a:solidFill>
                  <a:srgbClr val="D6E6F5"/>
                </a:solidFill>
              </a:rPr>
              <a:t>Monitor volcanic activity</a:t>
            </a:r>
          </a:p>
          <a:p>
            <a:pPr marL="171450" indent="-171450" algn="l">
              <a:lnSpc>
                <a:spcPct val="90000"/>
              </a:lnSpc>
              <a:spcAft>
                <a:spcPts val="200"/>
              </a:spcAft>
              <a:buClr>
                <a:srgbClr val="5FB3F0"/>
              </a:buClr>
              <a:buFont typeface="Arial"/>
              <a:buChar char="■"/>
            </a:pPr>
            <a:r>
              <a:rPr lang="en-US" sz="1150" dirty="0">
                <a:solidFill>
                  <a:srgbClr val="D6E6F5"/>
                </a:solidFill>
              </a:rPr>
              <a:t>Study atmospheric dynamics</a:t>
            </a:r>
          </a:p>
        </p:txBody>
      </p:sp>
      <p:sp>
        <p:nvSpPr>
          <p:cNvPr id="2114" name="Shape 2115"/>
          <p:cNvSpPr/>
          <p:nvPr/>
        </p:nvSpPr>
        <p:spPr>
          <a:xfrm>
            <a:off x="9499600" y="1397000"/>
            <a:ext cx="2082800" cy="1549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 dirty="0"/>
          </a:p>
        </p:txBody>
      </p:sp>
      <p:sp>
        <p:nvSpPr>
          <p:cNvPr id="2115" name="Shape 2116"/>
          <p:cNvSpPr/>
          <p:nvPr/>
        </p:nvSpPr>
        <p:spPr>
          <a:xfrm>
            <a:off x="9499600" y="1397000"/>
            <a:ext cx="2082800" cy="38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16" name="Shape 2117"/>
          <p:cNvSpPr/>
          <p:nvPr/>
        </p:nvSpPr>
        <p:spPr>
          <a:xfrm>
            <a:off x="9652000" y="1816100"/>
            <a:ext cx="18034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FFFFFF"/>
                </a:solidFill>
              </a:rPr>
              <a:t>Industrial Safety</a:t>
            </a:r>
          </a:p>
          <a:p>
            <a:pPr marL="171450" indent="-171450" algn="l">
              <a:lnSpc>
                <a:spcPct val="90000"/>
              </a:lnSpc>
              <a:spcAft>
                <a:spcPts val="200"/>
              </a:spcAft>
              <a:buClr>
                <a:srgbClr val="5FB3F0"/>
              </a:buClr>
              <a:buFont typeface="Arial"/>
              <a:buChar char="■"/>
            </a:pPr>
            <a:r>
              <a:rPr lang="en-US" sz="1150" dirty="0">
                <a:solidFill>
                  <a:srgbClr val="D6E6F5"/>
                </a:solidFill>
              </a:rPr>
              <a:t>Monitor large industrial events</a:t>
            </a:r>
          </a:p>
          <a:p>
            <a:pPr marL="171450" indent="-171450" algn="l">
              <a:lnSpc>
                <a:spcPct val="90000"/>
              </a:lnSpc>
              <a:spcAft>
                <a:spcPts val="200"/>
              </a:spcAft>
              <a:buClr>
                <a:srgbClr val="5FB3F0"/>
              </a:buClr>
              <a:buFont typeface="Arial"/>
              <a:buChar char="■"/>
            </a:pPr>
            <a:r>
              <a:rPr lang="en-US" sz="1150" dirty="0">
                <a:solidFill>
                  <a:srgbClr val="D6E6F5"/>
                </a:solidFill>
              </a:rPr>
              <a:t>Detect abnormal pressure disturbances</a:t>
            </a:r>
          </a:p>
        </p:txBody>
      </p:sp>
      <p:sp>
        <p:nvSpPr>
          <p:cNvPr id="2117" name="Shape 2118"/>
          <p:cNvSpPr/>
          <p:nvPr/>
        </p:nvSpPr>
        <p:spPr>
          <a:xfrm>
            <a:off x="609600" y="3581400"/>
            <a:ext cx="2997200" cy="2616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18" name="Shape 2119"/>
          <p:cNvSpPr/>
          <p:nvPr/>
        </p:nvSpPr>
        <p:spPr>
          <a:xfrm>
            <a:off x="787400" y="36830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Sustainable Development</a:t>
            </a:r>
          </a:p>
        </p:txBody>
      </p:sp>
      <p:sp>
        <p:nvSpPr>
          <p:cNvPr id="2119" name="Shape 2120"/>
          <p:cNvSpPr/>
          <p:nvPr/>
        </p:nvSpPr>
        <p:spPr>
          <a:xfrm>
            <a:off x="787400" y="4089400"/>
            <a:ext cx="457200" cy="431800"/>
          </a:xfrm>
          <a:prstGeom prst="roundRect">
            <a:avLst/>
          </a:prstGeom>
          <a:solidFill>
            <a:srgbClr val="F36D25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0000"/>
              </a:lnSpc>
              <a:spcAft>
                <a:spcPts val="0"/>
              </a:spcAft>
              <a:buNone/>
            </a:pPr>
            <a:r>
              <a:rPr lang="en-US" sz="700" b="1" dirty="0">
                <a:solidFill>
                  <a:srgbClr val="FFFFFF"/>
                </a:solidFill>
              </a:rPr>
              <a:t>SDG</a:t>
            </a:r>
          </a:p>
          <a:p>
            <a:pPr algn="ctr">
              <a:lnSpc>
                <a:spcPct val="80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120" name="Shape 2121"/>
          <p:cNvSpPr/>
          <p:nvPr/>
        </p:nvSpPr>
        <p:spPr>
          <a:xfrm>
            <a:off x="1346200" y="4089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1150" b="1" dirty="0">
                <a:solidFill>
                  <a:srgbClr val="FFFFFF"/>
                </a:solidFill>
              </a:rPr>
              <a:t>Industry, Innovation &amp; Infrastructure</a:t>
            </a:r>
          </a:p>
        </p:txBody>
      </p:sp>
      <p:sp>
        <p:nvSpPr>
          <p:cNvPr id="2121" name="Shape 2122"/>
          <p:cNvSpPr/>
          <p:nvPr/>
        </p:nvSpPr>
        <p:spPr>
          <a:xfrm>
            <a:off x="787400" y="4597400"/>
            <a:ext cx="457200" cy="431800"/>
          </a:xfrm>
          <a:prstGeom prst="roundRect">
            <a:avLst/>
          </a:prstGeom>
          <a:solidFill>
            <a:srgbClr val="00689D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80000"/>
              </a:lnSpc>
              <a:spcAft>
                <a:spcPts val="0"/>
              </a:spcAft>
              <a:buNone/>
            </a:pPr>
            <a:r>
              <a:rPr lang="en-US" sz="700" b="1" dirty="0">
                <a:solidFill>
                  <a:srgbClr val="FFFFFF"/>
                </a:solidFill>
              </a:rPr>
              <a:t>SDG</a:t>
            </a:r>
          </a:p>
          <a:p>
            <a:pPr algn="ctr">
              <a:lnSpc>
                <a:spcPct val="80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2122" name="Shape 2123"/>
          <p:cNvSpPr/>
          <p:nvPr/>
        </p:nvSpPr>
        <p:spPr>
          <a:xfrm>
            <a:off x="1346200" y="4597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1150" b="1" dirty="0">
                <a:solidFill>
                  <a:srgbClr val="FFFFFF"/>
                </a:solidFill>
              </a:rPr>
              <a:t>Peace, Justice &amp; Strong Institutions</a:t>
            </a:r>
          </a:p>
        </p:txBody>
      </p:sp>
      <p:cxnSp>
        <p:nvCxnSpPr>
          <p:cNvPr id="2123" name="Rule 2124"/>
          <p:cNvCxnSpPr/>
          <p:nvPr/>
        </p:nvCxnSpPr>
        <p:spPr>
          <a:xfrm>
            <a:off x="787400" y="5156200"/>
            <a:ext cx="2692400" cy="0"/>
          </a:xfrm>
          <a:prstGeom prst="line">
            <a:avLst/>
          </a:prstGeom>
          <a:ln w="12700">
            <a:solidFill>
              <a:srgbClr val="5FA8DD"/>
            </a:solidFill>
          </a:ln>
        </p:spPr>
      </p:cxnSp>
      <p:sp>
        <p:nvSpPr>
          <p:cNvPr id="2124" name="Shape 2125"/>
          <p:cNvSpPr/>
          <p:nvPr/>
        </p:nvSpPr>
        <p:spPr>
          <a:xfrm>
            <a:off x="787400" y="52324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1000" b="1" dirty="0">
                <a:solidFill>
                  <a:srgbClr val="D6E9F8"/>
                </a:solidFill>
              </a:rPr>
              <a:t>SUPPORTS</a:t>
            </a:r>
          </a:p>
        </p:txBody>
      </p:sp>
      <p:sp>
        <p:nvSpPr>
          <p:cNvPr id="2125" name="Shape 2126"/>
          <p:cNvSpPr/>
          <p:nvPr/>
        </p:nvSpPr>
        <p:spPr>
          <a:xfrm>
            <a:off x="787400" y="5461000"/>
            <a:ext cx="2692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lnSpc>
                <a:spcPct val="95000"/>
              </a:lnSpc>
              <a:spcAft>
                <a:spcPts val="200"/>
              </a:spcAft>
              <a:buClr>
                <a:srgbClr val="FFFFFF"/>
              </a:buClr>
              <a:buFont typeface="Arial"/>
              <a:buChar char="■"/>
            </a:pPr>
            <a:r>
              <a:rPr lang="en-US" sz="1150" dirty="0">
                <a:solidFill>
                  <a:srgbClr val="FFFFFF"/>
                </a:solidFill>
              </a:rPr>
              <a:t>Atmanirbhar Bharat</a:t>
            </a:r>
          </a:p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FFFFFF"/>
              </a:buClr>
              <a:buFont typeface="Arial"/>
              <a:buChar char="■"/>
            </a:pPr>
            <a:r>
              <a:rPr lang="en-US" sz="1150" dirty="0">
                <a:solidFill>
                  <a:srgbClr val="FFFFFF"/>
                </a:solidFill>
              </a:rPr>
              <a:t>Indigenous Strategic Technology Development</a:t>
            </a:r>
          </a:p>
        </p:txBody>
      </p:sp>
      <p:sp>
        <p:nvSpPr>
          <p:cNvPr id="2126" name="Shape 2127"/>
          <p:cNvSpPr/>
          <p:nvPr/>
        </p:nvSpPr>
        <p:spPr>
          <a:xfrm>
            <a:off x="3759200" y="3581400"/>
            <a:ext cx="3835400" cy="1270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27" name="Shape 2128"/>
          <p:cNvSpPr/>
          <p:nvPr/>
        </p:nvSpPr>
        <p:spPr>
          <a:xfrm>
            <a:off x="3759200" y="3581400"/>
            <a:ext cx="38100" cy="127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28" name="Shape 2129"/>
          <p:cNvSpPr/>
          <p:nvPr/>
        </p:nvSpPr>
        <p:spPr>
          <a:xfrm>
            <a:off x="4318000" y="3657600"/>
            <a:ext cx="3149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F3864"/>
                </a:solidFill>
              </a:rPr>
              <a:t>Technical Benefits</a:t>
            </a:r>
          </a:p>
        </p:txBody>
      </p:sp>
      <p:sp>
        <p:nvSpPr>
          <p:cNvPr id="2129" name="Shape 2130"/>
          <p:cNvSpPr/>
          <p:nvPr/>
        </p:nvSpPr>
        <p:spPr>
          <a:xfrm>
            <a:off x="3962400" y="4064000"/>
            <a:ext cx="350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200" dirty="0">
                <a:solidFill>
                  <a:srgbClr val="262626"/>
                </a:solidFill>
              </a:rPr>
              <a:t>High-Sensitivity Infrasound Detection</a:t>
            </a:r>
          </a:p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200" dirty="0">
                <a:solidFill>
                  <a:srgbClr val="262626"/>
                </a:solidFill>
              </a:rPr>
              <a:t>Low-Noise Signal Conditioning &amp; Digitization</a:t>
            </a:r>
          </a:p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200" dirty="0">
                <a:solidFill>
                  <a:srgbClr val="262626"/>
                </a:solidFill>
              </a:rPr>
              <a:t>Differential Pressure Measurement</a:t>
            </a:r>
          </a:p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200" dirty="0">
                <a:solidFill>
                  <a:srgbClr val="262626"/>
                </a:solidFill>
              </a:rPr>
              <a:t>Real-Time Monitoring &amp; Analysis</a:t>
            </a:r>
          </a:p>
        </p:txBody>
      </p:sp>
      <p:sp>
        <p:nvSpPr>
          <p:cNvPr id="2130" name="Shape 2131"/>
          <p:cNvSpPr/>
          <p:nvPr/>
        </p:nvSpPr>
        <p:spPr>
          <a:xfrm>
            <a:off x="7747000" y="3581400"/>
            <a:ext cx="3835400" cy="1270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31" name="Shape 2132"/>
          <p:cNvSpPr/>
          <p:nvPr/>
        </p:nvSpPr>
        <p:spPr>
          <a:xfrm>
            <a:off x="7747000" y="3581400"/>
            <a:ext cx="38100" cy="127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32" name="Shape 2133"/>
          <p:cNvSpPr/>
          <p:nvPr/>
        </p:nvSpPr>
        <p:spPr>
          <a:xfrm>
            <a:off x="8305800" y="3657600"/>
            <a:ext cx="3149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F3864"/>
                </a:solidFill>
              </a:rPr>
              <a:t>Economic Benefits</a:t>
            </a:r>
          </a:p>
        </p:txBody>
      </p:sp>
      <p:sp>
        <p:nvSpPr>
          <p:cNvPr id="2133" name="Shape 2134"/>
          <p:cNvSpPr/>
          <p:nvPr/>
        </p:nvSpPr>
        <p:spPr>
          <a:xfrm>
            <a:off x="7950200" y="4064000"/>
            <a:ext cx="350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200" dirty="0">
                <a:solidFill>
                  <a:srgbClr val="262626"/>
                </a:solidFill>
              </a:rPr>
              <a:t>Modular Maintenance Architecture</a:t>
            </a:r>
          </a:p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200" dirty="0">
                <a:solidFill>
                  <a:srgbClr val="262626"/>
                </a:solidFill>
              </a:rPr>
              <a:t>Reduced Lifecycle Servicing Cost</a:t>
            </a:r>
          </a:p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200" dirty="0">
                <a:solidFill>
                  <a:srgbClr val="262626"/>
                </a:solidFill>
              </a:rPr>
              <a:t>Commercially Available Components</a:t>
            </a:r>
          </a:p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200" dirty="0">
                <a:solidFill>
                  <a:srgbClr val="262626"/>
                </a:solidFill>
              </a:rPr>
              <a:t>Scalable Sensor Deployment</a:t>
            </a:r>
          </a:p>
        </p:txBody>
      </p:sp>
      <p:sp>
        <p:nvSpPr>
          <p:cNvPr id="2134" name="Shape 2135"/>
          <p:cNvSpPr/>
          <p:nvPr/>
        </p:nvSpPr>
        <p:spPr>
          <a:xfrm>
            <a:off x="3759200" y="4927600"/>
            <a:ext cx="3835400" cy="1270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35" name="Shape 2136"/>
          <p:cNvSpPr/>
          <p:nvPr/>
        </p:nvSpPr>
        <p:spPr>
          <a:xfrm>
            <a:off x="3759200" y="4927600"/>
            <a:ext cx="38100" cy="127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36" name="Shape 2137"/>
          <p:cNvSpPr/>
          <p:nvPr/>
        </p:nvSpPr>
        <p:spPr>
          <a:xfrm>
            <a:off x="4318000" y="5003800"/>
            <a:ext cx="3149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F3864"/>
                </a:solidFill>
              </a:rPr>
              <a:t>Environmental Benefits</a:t>
            </a:r>
          </a:p>
        </p:txBody>
      </p:sp>
      <p:sp>
        <p:nvSpPr>
          <p:cNvPr id="2137" name="Shape 2138"/>
          <p:cNvSpPr/>
          <p:nvPr/>
        </p:nvSpPr>
        <p:spPr>
          <a:xfrm>
            <a:off x="3962400" y="5410200"/>
            <a:ext cx="350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200" dirty="0">
                <a:solidFill>
                  <a:srgbClr val="262626"/>
                </a:solidFill>
              </a:rPr>
              <a:t>Low-Power Operation</a:t>
            </a:r>
          </a:p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200" dirty="0">
                <a:solidFill>
                  <a:srgbClr val="262626"/>
                </a:solidFill>
              </a:rPr>
              <a:t>Long-Term Field Deployment</a:t>
            </a:r>
          </a:p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200" dirty="0">
                <a:solidFill>
                  <a:srgbClr val="262626"/>
                </a:solidFill>
              </a:rPr>
              <a:t>Minimal Environmental Footprint</a:t>
            </a:r>
          </a:p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200" dirty="0">
                <a:solidFill>
                  <a:srgbClr val="262626"/>
                </a:solidFill>
              </a:rPr>
              <a:t>Supports Atmospheric Research</a:t>
            </a:r>
          </a:p>
        </p:txBody>
      </p:sp>
      <p:sp>
        <p:nvSpPr>
          <p:cNvPr id="2138" name="Shape 2139"/>
          <p:cNvSpPr/>
          <p:nvPr/>
        </p:nvSpPr>
        <p:spPr>
          <a:xfrm>
            <a:off x="7747000" y="4927600"/>
            <a:ext cx="3835400" cy="1270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39" name="Shape 2140"/>
          <p:cNvSpPr/>
          <p:nvPr/>
        </p:nvSpPr>
        <p:spPr>
          <a:xfrm>
            <a:off x="7747000" y="4927600"/>
            <a:ext cx="38100" cy="127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40" name="Shape 2141"/>
          <p:cNvSpPr/>
          <p:nvPr/>
        </p:nvSpPr>
        <p:spPr>
          <a:xfrm>
            <a:off x="8305800" y="5003800"/>
            <a:ext cx="3149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F3864"/>
                </a:solidFill>
              </a:rPr>
              <a:t>Strategic Benefits</a:t>
            </a:r>
          </a:p>
        </p:txBody>
      </p:sp>
      <p:sp>
        <p:nvSpPr>
          <p:cNvPr id="2141" name="Shape 2142"/>
          <p:cNvSpPr/>
          <p:nvPr/>
        </p:nvSpPr>
        <p:spPr>
          <a:xfrm>
            <a:off x="7950200" y="5410200"/>
            <a:ext cx="350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200" dirty="0">
                <a:solidFill>
                  <a:srgbClr val="262626"/>
                </a:solidFill>
              </a:rPr>
              <a:t>Atmospheric Event Intelligence</a:t>
            </a:r>
          </a:p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200" dirty="0">
                <a:solidFill>
                  <a:srgbClr val="262626"/>
                </a:solidFill>
              </a:rPr>
              <a:t>Strategic Monitoring Capability</a:t>
            </a:r>
          </a:p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200" dirty="0">
                <a:solidFill>
                  <a:srgbClr val="262626"/>
                </a:solidFill>
              </a:rPr>
              <a:t>Supports Strategic Monitoring Applications</a:t>
            </a:r>
          </a:p>
          <a:p>
            <a:pPr marL="171450" indent="-171450" algn="l">
              <a:lnSpc>
                <a:spcPct val="95000"/>
              </a:lnSpc>
              <a:spcAft>
                <a:spcPts val="0"/>
              </a:spcAft>
              <a:buClr>
                <a:srgbClr val="0070C0"/>
              </a:buClr>
              <a:buFont typeface="Arial"/>
              <a:buChar char="■"/>
            </a:pPr>
            <a:r>
              <a:rPr lang="en-US" sz="1200" dirty="0">
                <a:solidFill>
                  <a:srgbClr val="262626"/>
                </a:solidFill>
              </a:rPr>
              <a:t>Indigenous Monitoring Infrastructure</a:t>
            </a:r>
          </a:p>
        </p:txBody>
      </p:sp>
      <p:pic>
        <p:nvPicPr>
          <p:cNvPr id="17410" name="Graphic 17410" descr="Secur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1498600"/>
            <a:ext cx="304800" cy="304800"/>
          </a:xfrm>
          <a:prstGeom prst="rect">
            <a:avLst/>
          </a:prstGeom>
        </p:spPr>
      </p:pic>
      <p:pic>
        <p:nvPicPr>
          <p:cNvPr id="17411" name="Graphic 17411" descr="Geophysic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84500" y="1498600"/>
            <a:ext cx="304800" cy="304800"/>
          </a:xfrm>
          <a:prstGeom prst="rect">
            <a:avLst/>
          </a:prstGeom>
        </p:spPr>
      </p:pic>
      <p:pic>
        <p:nvPicPr>
          <p:cNvPr id="17412" name="Graphic 17412" descr="Rock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7000" y="1498600"/>
            <a:ext cx="304800" cy="304800"/>
          </a:xfrm>
          <a:prstGeom prst="rect">
            <a:avLst/>
          </a:prstGeom>
        </p:spPr>
      </p:pic>
      <p:pic>
        <p:nvPicPr>
          <p:cNvPr id="17414" name="Graphic 17414" descr="Industri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52000" y="1498600"/>
            <a:ext cx="304800" cy="304800"/>
          </a:xfrm>
          <a:prstGeom prst="rect">
            <a:avLst/>
          </a:prstGeom>
        </p:spPr>
      </p:pic>
      <p:pic>
        <p:nvPicPr>
          <p:cNvPr id="17415" name="Graphic 17415" descr="Technic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37000" y="3683000"/>
            <a:ext cx="304800" cy="304800"/>
          </a:xfrm>
          <a:prstGeom prst="rect">
            <a:avLst/>
          </a:prstGeom>
        </p:spPr>
      </p:pic>
      <p:pic>
        <p:nvPicPr>
          <p:cNvPr id="17416" name="Graphic 17416" descr="Economic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24800" y="3683000"/>
            <a:ext cx="304800" cy="304800"/>
          </a:xfrm>
          <a:prstGeom prst="rect">
            <a:avLst/>
          </a:prstGeom>
        </p:spPr>
      </p:pic>
      <p:pic>
        <p:nvPicPr>
          <p:cNvPr id="17417" name="Graphic 17417" descr="Environment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37000" y="5029200"/>
            <a:ext cx="304800" cy="304800"/>
          </a:xfrm>
          <a:prstGeom prst="rect">
            <a:avLst/>
          </a:prstGeom>
        </p:spPr>
      </p:pic>
      <p:pic>
        <p:nvPicPr>
          <p:cNvPr id="17418" name="Graphic 17418" descr="Strategic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24800" y="5029200"/>
            <a:ext cx="304800" cy="304800"/>
          </a:xfrm>
          <a:prstGeom prst="rect">
            <a:avLst/>
          </a:prstGeom>
        </p:spPr>
      </p:pic>
      <p:sp>
        <p:nvSpPr>
          <p:cNvPr id="2210" name="Banner 2211"/>
          <p:cNvSpPr/>
          <p:nvPr/>
        </p:nvSpPr>
        <p:spPr>
          <a:xfrm>
            <a:off x="609600" y="3022600"/>
            <a:ext cx="2921000" cy="2794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ATMOSPHERIC SIGNALS</a:t>
            </a:r>
          </a:p>
        </p:txBody>
      </p:sp>
      <p:sp>
        <p:nvSpPr>
          <p:cNvPr id="2211" name="Banner 2212"/>
          <p:cNvSpPr/>
          <p:nvPr/>
        </p:nvSpPr>
        <p:spPr>
          <a:xfrm>
            <a:off x="3606800" y="3022600"/>
            <a:ext cx="279400" cy="2794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2212" name="Banner 2213"/>
          <p:cNvSpPr/>
          <p:nvPr/>
        </p:nvSpPr>
        <p:spPr>
          <a:xfrm>
            <a:off x="3962400" y="3022600"/>
            <a:ext cx="3733800" cy="279400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0070C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1F3864"/>
                </a:solidFill>
              </a:rPr>
              <a:t>Indigenous Infrasound Monitoring Platform</a:t>
            </a:r>
          </a:p>
        </p:txBody>
      </p:sp>
      <p:sp>
        <p:nvSpPr>
          <p:cNvPr id="2213" name="Banner 2214"/>
          <p:cNvSpPr/>
          <p:nvPr/>
        </p:nvSpPr>
        <p:spPr>
          <a:xfrm>
            <a:off x="7772400" y="3022600"/>
            <a:ext cx="279400" cy="2794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endParaRPr lang="en-US"/>
          </a:p>
        </p:txBody>
      </p:sp>
      <p:sp>
        <p:nvSpPr>
          <p:cNvPr id="2214" name="Banner 2215"/>
          <p:cNvSpPr/>
          <p:nvPr/>
        </p:nvSpPr>
        <p:spPr>
          <a:xfrm>
            <a:off x="8128000" y="3022600"/>
            <a:ext cx="3454400" cy="279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ACTIONABLE MONITORING INFORMATION</a:t>
            </a:r>
          </a:p>
        </p:txBody>
      </p:sp>
      <p:pic>
        <p:nvPicPr>
          <p:cNvPr id="17419" name="Graphic 17419" descr="Volcan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29500" y="1498600"/>
            <a:ext cx="304800" cy="304800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8748DA89-4AB6-3B9D-3551-6B496B329BB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2865" y="252246"/>
            <a:ext cx="136876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SPADES </a:t>
            </a:r>
            <a:endParaRPr lang="en-IN" dirty="0"/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5FB3FAEF-188B-F040-CFA9-D25BF1C3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SPADES</a:t>
            </a:r>
          </a:p>
        </p:txBody>
      </p:sp>
    </p:spTree>
    <p:extLst>
      <p:ext uri="{BB962C8B-B14F-4D97-AF65-F5344CB8AC3E}">
        <p14:creationId xmlns:p14="http://schemas.microsoft.com/office/powerpoint/2010/main" val="2525175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50800"/>
            <a:ext cx="10972800" cy="114300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FEE785-8DF5-BF53-DD82-4AE54DD486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3429444-A031-E2AB-CED6-07A4120D0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400" y="1625600"/>
            <a:ext cx="6350000" cy="3173345"/>
          </a:xfrm>
          <a:prstGeom prst="rect">
            <a:avLst/>
          </a:prstGeom>
        </p:spPr>
      </p:pic>
      <p:sp>
        <p:nvSpPr>
          <p:cNvPr id="7300" name="Text 7301"/>
          <p:cNvSpPr txBox="1"/>
          <p:nvPr/>
        </p:nvSpPr>
        <p:spPr>
          <a:xfrm>
            <a:off x="609600" y="1219200"/>
            <a:ext cx="44196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1F3864"/>
                </a:solidFill>
              </a:rPr>
              <a:t>RESEARCH DRIVEN DESIGN</a:t>
            </a:r>
          </a:p>
        </p:txBody>
      </p:sp>
      <p:cxnSp>
        <p:nvCxnSpPr>
          <p:cNvPr id="7301" name="Rule 7302"/>
          <p:cNvCxnSpPr/>
          <p:nvPr/>
        </p:nvCxnSpPr>
        <p:spPr>
          <a:xfrm>
            <a:off x="609600" y="1549400"/>
            <a:ext cx="4419600" cy="0"/>
          </a:xfrm>
          <a:prstGeom prst="line">
            <a:avLst/>
          </a:prstGeom>
          <a:ln w="12700">
            <a:solidFill>
              <a:srgbClr val="0070C0"/>
            </a:solidFill>
          </a:ln>
        </p:spPr>
      </p:cxnSp>
      <p:sp>
        <p:nvSpPr>
          <p:cNvPr id="7302" name="Shape 7303"/>
          <p:cNvSpPr/>
          <p:nvPr/>
        </p:nvSpPr>
        <p:spPr>
          <a:xfrm>
            <a:off x="609600" y="1651000"/>
            <a:ext cx="4419600" cy="6731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03" name="Shape 7304"/>
          <p:cNvSpPr/>
          <p:nvPr/>
        </p:nvSpPr>
        <p:spPr>
          <a:xfrm>
            <a:off x="609600" y="1651000"/>
            <a:ext cx="38100" cy="673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04" name="Text 7305"/>
          <p:cNvSpPr txBox="1"/>
          <p:nvPr/>
        </p:nvSpPr>
        <p:spPr>
          <a:xfrm>
            <a:off x="787400" y="1651000"/>
            <a:ext cx="4140200" cy="673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450" b="1" dirty="0">
                <a:solidFill>
                  <a:srgbClr val="1F3864"/>
                </a:solidFill>
              </a:rPr>
              <a:t>CTBTO Infrasound Monitoring Architecture</a:t>
            </a:r>
          </a:p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262626"/>
                </a:solidFill>
              </a:rPr>
              <a:t>Reference IMS station design for sensor and array layout</a:t>
            </a:r>
          </a:p>
          <a:p>
            <a:pPr algn="l"/>
            <a:r>
              <a:rPr lang="en-US" sz="1200" dirty="0">
                <a:solidFill>
                  <a:srgbClr val="595959"/>
                </a:solidFill>
              </a:rPr>
              <a:t>Source: </a:t>
            </a:r>
            <a:r>
              <a:rPr lang="en-US" sz="1200" u="sng" dirty="0">
                <a:solidFill>
                  <a:srgbClr val="0070C0"/>
                </a:solidFill>
                <a:hlinkClick r:id="rId5" tooltip="Open link"/>
              </a:rPr>
              <a:t>CTBTO Website</a:t>
            </a:r>
          </a:p>
        </p:txBody>
      </p:sp>
      <p:sp>
        <p:nvSpPr>
          <p:cNvPr id="7305" name="Shape 7306"/>
          <p:cNvSpPr/>
          <p:nvPr/>
        </p:nvSpPr>
        <p:spPr>
          <a:xfrm>
            <a:off x="609600" y="2400300"/>
            <a:ext cx="4419600" cy="6731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06" name="Shape 7307"/>
          <p:cNvSpPr/>
          <p:nvPr/>
        </p:nvSpPr>
        <p:spPr>
          <a:xfrm>
            <a:off x="609600" y="2400300"/>
            <a:ext cx="38100" cy="673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07" name="Text 7308"/>
          <p:cNvSpPr txBox="1"/>
          <p:nvPr/>
        </p:nvSpPr>
        <p:spPr>
          <a:xfrm>
            <a:off x="787400" y="2400300"/>
            <a:ext cx="4140200" cy="673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450" b="1" dirty="0">
                <a:solidFill>
                  <a:srgbClr val="1F3864"/>
                </a:solidFill>
              </a:rPr>
              <a:t>Wind Noise Reduction Systems</a:t>
            </a:r>
          </a:p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262626"/>
                </a:solidFill>
              </a:rPr>
              <a:t>Porous-hose and pipe-array filters to suppress wind noise</a:t>
            </a:r>
          </a:p>
          <a:p>
            <a:pPr algn="l"/>
            <a:r>
              <a:rPr lang="en-US" sz="1200" dirty="0">
                <a:solidFill>
                  <a:srgbClr val="595959"/>
                </a:solidFill>
              </a:rPr>
              <a:t>Source: </a:t>
            </a:r>
            <a:r>
              <a:rPr lang="en-US" sz="1200" u="sng" dirty="0">
                <a:solidFill>
                  <a:srgbClr val="0070C0"/>
                </a:solidFill>
                <a:hlinkClick r:id="rId6" tooltip="Open link"/>
              </a:rPr>
              <a:t>Research Paper</a:t>
            </a:r>
          </a:p>
        </p:txBody>
      </p:sp>
      <p:sp>
        <p:nvSpPr>
          <p:cNvPr id="7308" name="Shape 7309"/>
          <p:cNvSpPr/>
          <p:nvPr/>
        </p:nvSpPr>
        <p:spPr>
          <a:xfrm>
            <a:off x="609600" y="3149600"/>
            <a:ext cx="4419600" cy="6731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09" name="Shape 7310"/>
          <p:cNvSpPr/>
          <p:nvPr/>
        </p:nvSpPr>
        <p:spPr>
          <a:xfrm>
            <a:off x="609600" y="3149600"/>
            <a:ext cx="38100" cy="673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10" name="Text 7311"/>
          <p:cNvSpPr txBox="1"/>
          <p:nvPr/>
        </p:nvSpPr>
        <p:spPr>
          <a:xfrm>
            <a:off x="787400" y="3149600"/>
            <a:ext cx="4140200" cy="673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450" b="1" dirty="0">
                <a:solidFill>
                  <a:srgbClr val="1F3864"/>
                </a:solidFill>
              </a:rPr>
              <a:t>Differential Pressure Measurement</a:t>
            </a:r>
          </a:p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262626"/>
                </a:solidFill>
              </a:rPr>
              <a:t>Inlet vs. sealed reference volume, sensor reads the difference</a:t>
            </a:r>
          </a:p>
          <a:p>
            <a:pPr algn="l"/>
            <a:r>
              <a:rPr lang="en-US" sz="1200" dirty="0">
                <a:solidFill>
                  <a:srgbClr val="595959"/>
                </a:solidFill>
              </a:rPr>
              <a:t>Source: </a:t>
            </a:r>
            <a:r>
              <a:rPr lang="en-US" sz="1200" u="sng" dirty="0">
                <a:solidFill>
                  <a:srgbClr val="0070C0"/>
                </a:solidFill>
                <a:hlinkClick r:id="rId7" tooltip="Open link"/>
              </a:rPr>
              <a:t>Academic Research</a:t>
            </a:r>
          </a:p>
        </p:txBody>
      </p:sp>
      <p:sp>
        <p:nvSpPr>
          <p:cNvPr id="7311" name="Shape 7312"/>
          <p:cNvSpPr/>
          <p:nvPr/>
        </p:nvSpPr>
        <p:spPr>
          <a:xfrm>
            <a:off x="609600" y="3898900"/>
            <a:ext cx="4419600" cy="6731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12" name="Shape 7313"/>
          <p:cNvSpPr/>
          <p:nvPr/>
        </p:nvSpPr>
        <p:spPr>
          <a:xfrm>
            <a:off x="609600" y="3898900"/>
            <a:ext cx="38100" cy="673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13" name="Text 7314"/>
          <p:cNvSpPr txBox="1"/>
          <p:nvPr/>
        </p:nvSpPr>
        <p:spPr>
          <a:xfrm>
            <a:off x="787400" y="3898900"/>
            <a:ext cx="4140200" cy="673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450" b="1" dirty="0">
                <a:solidFill>
                  <a:srgbClr val="1F3864"/>
                </a:solidFill>
              </a:rPr>
              <a:t>Pressure Equalization Networks</a:t>
            </a:r>
          </a:p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262626"/>
                </a:solidFill>
              </a:rPr>
              <a:t>Slow leak path that removes daily barometric changes</a:t>
            </a:r>
          </a:p>
          <a:p>
            <a:pPr algn="l"/>
            <a:r>
              <a:rPr lang="en-US" sz="1200" dirty="0">
                <a:solidFill>
                  <a:srgbClr val="595959"/>
                </a:solidFill>
              </a:rPr>
              <a:t>Source: </a:t>
            </a:r>
            <a:r>
              <a:rPr lang="en-US" sz="1200" u="sng" dirty="0">
                <a:solidFill>
                  <a:srgbClr val="0070C0"/>
                </a:solidFill>
                <a:hlinkClick r:id="rId8" tooltip="Open link"/>
              </a:rPr>
              <a:t>Academic Research</a:t>
            </a:r>
          </a:p>
        </p:txBody>
      </p:sp>
      <p:sp>
        <p:nvSpPr>
          <p:cNvPr id="7314" name="Shape 7315"/>
          <p:cNvSpPr/>
          <p:nvPr/>
        </p:nvSpPr>
        <p:spPr>
          <a:xfrm>
            <a:off x="609600" y="4648200"/>
            <a:ext cx="4419600" cy="6731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15" name="Shape 7316"/>
          <p:cNvSpPr/>
          <p:nvPr/>
        </p:nvSpPr>
        <p:spPr>
          <a:xfrm>
            <a:off x="609600" y="4648200"/>
            <a:ext cx="38100" cy="673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16" name="Text 7317"/>
          <p:cNvSpPr txBox="1"/>
          <p:nvPr/>
        </p:nvSpPr>
        <p:spPr>
          <a:xfrm>
            <a:off x="787400" y="4648200"/>
            <a:ext cx="4140200" cy="673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450" b="1" dirty="0">
                <a:solidFill>
                  <a:srgbClr val="1F3864"/>
                </a:solidFill>
              </a:rPr>
              <a:t>Low-Noise Atmospheric Sensing</a:t>
            </a:r>
          </a:p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262626"/>
                </a:solidFill>
              </a:rPr>
              <a:t>Low-noise front end and signal-to-noise design</a:t>
            </a:r>
          </a:p>
          <a:p>
            <a:pPr algn="l"/>
            <a:r>
              <a:rPr lang="en-US" sz="1200" dirty="0">
                <a:solidFill>
                  <a:srgbClr val="595959"/>
                </a:solidFill>
              </a:rPr>
              <a:t>Source: </a:t>
            </a:r>
            <a:r>
              <a:rPr lang="en-US" sz="1200" u="sng" dirty="0">
                <a:solidFill>
                  <a:srgbClr val="0070C0"/>
                </a:solidFill>
                <a:hlinkClick r:id="rId9" tooltip="Open link"/>
              </a:rPr>
              <a:t>Published Literature</a:t>
            </a:r>
          </a:p>
        </p:txBody>
      </p:sp>
      <p:sp>
        <p:nvSpPr>
          <p:cNvPr id="7317" name="Shape 7318"/>
          <p:cNvSpPr/>
          <p:nvPr/>
        </p:nvSpPr>
        <p:spPr>
          <a:xfrm>
            <a:off x="609600" y="5397500"/>
            <a:ext cx="4419600" cy="6731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18" name="Shape 7319"/>
          <p:cNvSpPr/>
          <p:nvPr/>
        </p:nvSpPr>
        <p:spPr>
          <a:xfrm>
            <a:off x="609600" y="5397500"/>
            <a:ext cx="38100" cy="673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19" name="Text 7320"/>
          <p:cNvSpPr txBox="1"/>
          <p:nvPr/>
        </p:nvSpPr>
        <p:spPr>
          <a:xfrm>
            <a:off x="787400" y="5397500"/>
            <a:ext cx="4140200" cy="673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450" b="1" dirty="0">
                <a:solidFill>
                  <a:srgbClr val="1F3864"/>
                </a:solidFill>
              </a:rPr>
              <a:t>Strategic Monitoring Applications</a:t>
            </a:r>
          </a:p>
          <a:p>
            <a:pPr algn="l">
              <a:spcAft>
                <a:spcPts val="100"/>
              </a:spcAft>
            </a:pPr>
            <a:r>
              <a:rPr lang="en-US" sz="1200" dirty="0">
                <a:solidFill>
                  <a:srgbClr val="262626"/>
                </a:solidFill>
              </a:rPr>
              <a:t>Explosion, launch and volcano monitoring use cases</a:t>
            </a:r>
          </a:p>
          <a:p>
            <a:pPr algn="l"/>
            <a:r>
              <a:rPr lang="en-US" sz="1200" dirty="0">
                <a:solidFill>
                  <a:srgbClr val="595959"/>
                </a:solidFill>
              </a:rPr>
              <a:t>Source: </a:t>
            </a:r>
            <a:r>
              <a:rPr lang="en-US" sz="1200" u="sng" dirty="0">
                <a:solidFill>
                  <a:srgbClr val="0070C0"/>
                </a:solidFill>
                <a:hlinkClick r:id="rId5" tooltip="Open link"/>
              </a:rPr>
              <a:t>CTBTO / Research Literature</a:t>
            </a:r>
          </a:p>
        </p:txBody>
      </p:sp>
      <p:sp>
        <p:nvSpPr>
          <p:cNvPr id="7320" name="Text 7321"/>
          <p:cNvSpPr txBox="1"/>
          <p:nvPr/>
        </p:nvSpPr>
        <p:spPr>
          <a:xfrm>
            <a:off x="5232400" y="1219200"/>
            <a:ext cx="6350000" cy="279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dirty="0">
                <a:solidFill>
                  <a:srgbClr val="1F3864"/>
                </a:solidFill>
              </a:rPr>
              <a:t>PROTOTYPE MONITORING DASHBOARD</a:t>
            </a:r>
          </a:p>
        </p:txBody>
      </p:sp>
      <p:cxnSp>
        <p:nvCxnSpPr>
          <p:cNvPr id="7321" name="Rule 7322"/>
          <p:cNvCxnSpPr/>
          <p:nvPr/>
        </p:nvCxnSpPr>
        <p:spPr>
          <a:xfrm>
            <a:off x="5232400" y="1549400"/>
            <a:ext cx="6350000" cy="0"/>
          </a:xfrm>
          <a:prstGeom prst="line">
            <a:avLst/>
          </a:prstGeom>
          <a:ln w="12700">
            <a:solidFill>
              <a:srgbClr val="0070C0"/>
            </a:solidFill>
          </a:ln>
        </p:spPr>
      </p:cxnSp>
      <p:sp>
        <p:nvSpPr>
          <p:cNvPr id="7322" name="Text 7323"/>
          <p:cNvSpPr txBox="1"/>
          <p:nvPr/>
        </p:nvSpPr>
        <p:spPr>
          <a:xfrm>
            <a:off x="5232400" y="49276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dirty="0">
                <a:solidFill>
                  <a:srgbClr val="0070C0"/>
                </a:solidFill>
              </a:rPr>
              <a:t>DASHBOARD FEATURES</a:t>
            </a:r>
          </a:p>
        </p:txBody>
      </p:sp>
      <p:sp>
        <p:nvSpPr>
          <p:cNvPr id="7323" name="Text 7324"/>
          <p:cNvSpPr txBox="1"/>
          <p:nvPr/>
        </p:nvSpPr>
        <p:spPr>
          <a:xfrm>
            <a:off x="5232400" y="5181600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0070C0"/>
                </a:solidFill>
              </a:rPr>
              <a:t>✓  </a:t>
            </a:r>
            <a:r>
              <a:rPr lang="en-US" sz="1300" dirty="0">
                <a:solidFill>
                  <a:srgbClr val="262626"/>
                </a:solidFill>
              </a:rPr>
              <a:t>Live Waveform Display</a:t>
            </a:r>
          </a:p>
        </p:txBody>
      </p:sp>
      <p:sp>
        <p:nvSpPr>
          <p:cNvPr id="7324" name="Text 7325"/>
          <p:cNvSpPr txBox="1"/>
          <p:nvPr/>
        </p:nvSpPr>
        <p:spPr>
          <a:xfrm>
            <a:off x="7162800" y="5181600"/>
            <a:ext cx="20320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0070C0"/>
                </a:solidFill>
              </a:rPr>
              <a:t>✓  </a:t>
            </a:r>
            <a:r>
              <a:rPr lang="en-US" sz="1300" dirty="0">
                <a:solidFill>
                  <a:srgbClr val="262626"/>
                </a:solidFill>
              </a:rPr>
              <a:t>FFT Spectrum Analysis</a:t>
            </a:r>
          </a:p>
        </p:txBody>
      </p:sp>
      <p:sp>
        <p:nvSpPr>
          <p:cNvPr id="7325" name="Text 7326"/>
          <p:cNvSpPr txBox="1"/>
          <p:nvPr/>
        </p:nvSpPr>
        <p:spPr>
          <a:xfrm>
            <a:off x="9220200" y="5181600"/>
            <a:ext cx="23622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0070C0"/>
                </a:solidFill>
              </a:rPr>
              <a:t>✓  </a:t>
            </a:r>
            <a:r>
              <a:rPr lang="en-US" sz="1300" dirty="0">
                <a:solidFill>
                  <a:srgbClr val="262626"/>
                </a:solidFill>
              </a:rPr>
              <a:t>Frequency-Time Spectrogram</a:t>
            </a:r>
          </a:p>
        </p:txBody>
      </p:sp>
      <p:sp>
        <p:nvSpPr>
          <p:cNvPr id="7326" name="Text 7327"/>
          <p:cNvSpPr txBox="1"/>
          <p:nvPr/>
        </p:nvSpPr>
        <p:spPr>
          <a:xfrm>
            <a:off x="5232400" y="5448300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0070C0"/>
                </a:solidFill>
              </a:rPr>
              <a:t>✓  </a:t>
            </a:r>
            <a:r>
              <a:rPr lang="en-US" sz="1300" dirty="0">
                <a:solidFill>
                  <a:srgbClr val="262626"/>
                </a:solidFill>
              </a:rPr>
              <a:t>STA/LTA Event Detection</a:t>
            </a:r>
          </a:p>
        </p:txBody>
      </p:sp>
      <p:sp>
        <p:nvSpPr>
          <p:cNvPr id="7327" name="Text 7328"/>
          <p:cNvSpPr txBox="1"/>
          <p:nvPr/>
        </p:nvSpPr>
        <p:spPr>
          <a:xfrm>
            <a:off x="7162800" y="5448300"/>
            <a:ext cx="20320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0070C0"/>
                </a:solidFill>
              </a:rPr>
              <a:t>✓  </a:t>
            </a:r>
            <a:r>
              <a:rPr lang="en-US" sz="1300" dirty="0">
                <a:solidFill>
                  <a:srgbClr val="262626"/>
                </a:solidFill>
              </a:rPr>
              <a:t>Event Logging &amp; Alerts</a:t>
            </a:r>
          </a:p>
        </p:txBody>
      </p:sp>
      <p:sp>
        <p:nvSpPr>
          <p:cNvPr id="7328" name="Text 7329"/>
          <p:cNvSpPr txBox="1"/>
          <p:nvPr/>
        </p:nvSpPr>
        <p:spPr>
          <a:xfrm>
            <a:off x="9220200" y="5448300"/>
            <a:ext cx="2362200" cy="266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0070C0"/>
                </a:solidFill>
              </a:rPr>
              <a:t>✓  </a:t>
            </a:r>
            <a:r>
              <a:rPr lang="en-US" sz="1300" dirty="0">
                <a:solidFill>
                  <a:srgbClr val="262626"/>
                </a:solidFill>
              </a:rPr>
              <a:t>Station Health Monitoring</a:t>
            </a:r>
          </a:p>
        </p:txBody>
      </p:sp>
      <p:sp>
        <p:nvSpPr>
          <p:cNvPr id="7329" name="Shape 7330"/>
          <p:cNvSpPr/>
          <p:nvPr/>
        </p:nvSpPr>
        <p:spPr>
          <a:xfrm>
            <a:off x="5232400" y="5816600"/>
            <a:ext cx="6350000" cy="3048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30" name="Portal link"/>
          <p:cNvSpPr txBox="1"/>
          <p:nvPr/>
        </p:nvSpPr>
        <p:spPr>
          <a:xfrm>
            <a:off x="5232400" y="5816600"/>
            <a:ext cx="6350000" cy="304800"/>
          </a:xfrm>
          <a:prstGeom prst="rect">
            <a:avLst/>
          </a:prstGeom>
          <a:noFill/>
        </p:spPr>
        <p:txBody>
          <a:bodyPr wrap="square" lIns="127000" tIns="0" rIns="0" bIns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1F3864"/>
                </a:solidFill>
              </a:rPr>
              <a:t>Developed Monitoring Portal:  </a:t>
            </a:r>
            <a:r>
              <a:rPr lang="en-US" sz="1300" b="1" u="sng" dirty="0">
                <a:solidFill>
                  <a:srgbClr val="0070C0"/>
                </a:solidFill>
                <a:hlinkClick r:id="rId10" tooltip="Open link"/>
              </a:rPr>
              <a:t>Micro-Barometer Dashboard</a:t>
            </a:r>
          </a:p>
        </p:txBody>
      </p:sp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ADAD4DA9-092B-DB82-2622-1543626D10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2865" y="252246"/>
            <a:ext cx="136876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SPADES </a:t>
            </a:r>
            <a:endParaRPr lang="en-IN" dirty="0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3A83929E-CEA0-1444-7B88-E621A61CC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SPADES</a:t>
            </a:r>
          </a:p>
        </p:txBody>
      </p:sp>
    </p:spTree>
    <p:extLst>
      <p:ext uri="{BB962C8B-B14F-4D97-AF65-F5344CB8AC3E}">
        <p14:creationId xmlns:p14="http://schemas.microsoft.com/office/powerpoint/2010/main" val="485090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F5F16CB-8516-40F1-B98D-7333946FE44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dc20fc25-d479-4aa6-b4e9-5d9bb12580c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10027</TotalTime>
  <Words>667</Words>
  <Application>Microsoft Office PowerPoint</Application>
  <PresentationFormat>Widescreen</PresentationFormat>
  <Paragraphs>243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PROBLEM STATEMENT &amp; PROPOSED SOLUTION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Manoj S</cp:lastModifiedBy>
  <cp:revision>168</cp:revision>
  <dcterms:created xsi:type="dcterms:W3CDTF">2013-12-12T18:46:50Z</dcterms:created>
  <dcterms:modified xsi:type="dcterms:W3CDTF">2026-10-04T17:33:49Z</dcterms:modified>
  <cp:category/>
</cp:coreProperties>
</file>